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5"/>
    <p:restoredTop sz="94658"/>
  </p:normalViewPr>
  <p:slideViewPr>
    <p:cSldViewPr snapToGrid="0">
      <p:cViewPr varScale="1">
        <p:scale>
          <a:sx n="40" d="100"/>
          <a:sy n="40" d="100"/>
        </p:scale>
        <p:origin x="240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B351-6E23-8C16-F740-3F3BD82A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C88E3-24BA-10BD-DF0A-6D9E63891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02ABC-BF85-4422-51DC-923580CB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E7DEE-8801-8BF5-B0F3-250752A7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E829-75F0-C196-70C3-CBFAB8F5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0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F1CF-4521-876F-4DBF-E29B7777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B8E03-A2BF-779C-D804-A42D36BCE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B16D6-E7B2-A08C-C88E-DABED4C5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CD92-DD20-5408-EF95-5B3AC8C9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1C90F-A771-DAD7-816D-9EC0CE5F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2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3D83-EF13-E200-264B-3FF46F47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1327-2764-87BF-641C-3DF97CE1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3D4C7-BAE3-43D6-D33B-AB5391DB1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2A61-7DAC-D73B-F814-9CEB20B3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E630A-3AE1-E273-88DF-C11BA26E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3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36C3-242B-1C0E-8DA3-582E59CD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BDFB-439B-29C3-3A07-BF5F1AAAC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81615-DFEB-F06D-A392-353093501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54F72-81E8-A6FD-CEF8-054093FB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33E5E-62F3-90D6-A968-CDBA152C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FE3BD-F9D8-FA9B-F74F-F5EA04C2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8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2942-D1C1-F8AE-79E7-AEE4138E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B477F-33DA-E9A9-411C-9470B9218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06279-0B93-B3BD-905D-8270023CA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5AEB64-E734-D7A7-88C9-55FEC8491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0F471-3A14-9674-3DCC-7AE64842A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52B01-7582-C8B6-A8A7-3F6402D3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88F72-1DB3-39F7-C22E-6F499FEC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3EDB0-F03E-1C33-1821-19841C76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2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5E2-8054-334A-A712-46F6CCA0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CF11A-C7DA-8929-19C3-8C230C78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08D4F-20A7-F5A0-69B5-52B0222E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D4624-F65F-663B-8FFD-B1CB7CF9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4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B5504-93E8-0C34-E1C6-E4A1B527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65194-9E82-2472-93B4-2BBD41F0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9F554-B56B-1D03-A9D0-4C7A7142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04CD-2A23-AE9B-ED74-360F1C3B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7FBBA-5B00-78A7-D081-E109E787A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5F621-B2B1-2523-B4B8-F134BC5F7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844FA-E9C9-C2A0-0AED-6A2C8451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C807-6F08-EBBF-7AC6-7D5165EE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CCC4F-EDB6-38F3-DE16-0CAF97A3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3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0221-BF24-825B-21EB-69CDDA00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69796-E804-0F2C-41FB-38AA4D705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CA477-DBC5-798A-29F7-14DCE56A2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6E71-3569-D066-33AC-CA5067E6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D31-4A3E-54E3-D64F-EAA9AC722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38F7F-194E-2485-7E6C-B4259304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7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ABF9-50E3-A76E-156D-47F26F49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63923-3839-498B-6640-7E3C6F7A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FF58-A3F3-454D-C8E4-E67BCBD18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0862D-C8F3-1BC7-E262-7091604E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611E9-2F08-E415-27B0-B7FF2A65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05DA8A-0BBA-C1E1-B27E-047B12622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5995C-BA2C-37AD-D74C-4117C02E7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BFE3-0C70-CBEE-6FEF-CF89A883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39145-0C22-1551-2C36-6257F94F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FBAF-9ED5-B783-3550-EE255E6B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9DEC7-4B5C-D1EA-B9D8-DA2B0F4D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7E8DA-9B39-9D0F-94A2-D76A9463B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5F33B-0954-01EF-9D4D-36334A5DF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8AAA7-BE63-3C49-9CD1-AE5E95F6187B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B1643-2D69-5E44-1259-8CFDB0CFA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D607-CC76-DAC7-ADF0-F99DC8D8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4F8C1-A154-004C-82FC-F4858AFE5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D354-E0B6-82CA-907B-D26038004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624" y="580103"/>
            <a:ext cx="9144000" cy="2387600"/>
          </a:xfrm>
        </p:spPr>
        <p:txBody>
          <a:bodyPr/>
          <a:lstStyle/>
          <a:p>
            <a:pPr algn="l"/>
            <a:r>
              <a:rPr lang="en-US" dirty="0" err="1"/>
              <a:t>CyberTraining</a:t>
            </a:r>
            <a:r>
              <a:rPr lang="en-US" dirty="0"/>
              <a:t> Workshop: 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CEB53-E0A3-F22B-A21C-10DF729D9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316" y="3062417"/>
            <a:ext cx="6259033" cy="1655762"/>
          </a:xfrm>
        </p:spPr>
        <p:txBody>
          <a:bodyPr/>
          <a:lstStyle/>
          <a:p>
            <a:pPr algn="l"/>
            <a:r>
              <a:rPr lang="en-US" sz="3000" dirty="0"/>
              <a:t>Slater T. Bakenhaster</a:t>
            </a:r>
          </a:p>
          <a:p>
            <a:pPr algn="l"/>
            <a:r>
              <a:rPr lang="en-US" sz="3000" dirty="0"/>
              <a:t>Kent State University</a:t>
            </a:r>
          </a:p>
          <a:p>
            <a:pPr algn="l"/>
            <a:r>
              <a:rPr lang="en-US" sz="3000" dirty="0"/>
              <a:t>18 July 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BC64D-0137-9CCE-5F99-5C77A8ED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089"/>
          <a:stretch>
            <a:fillRect/>
          </a:stretch>
        </p:blipFill>
        <p:spPr>
          <a:xfrm>
            <a:off x="5750494" y="2464273"/>
            <a:ext cx="6311900" cy="3985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D9FD9-9B7F-E68C-84DC-DFC1356E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623" y="4087943"/>
            <a:ext cx="1495351" cy="152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5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5E6F-0F50-6232-1C53-78511265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Molecular Qubits for QIS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F4C72-FEDC-1017-FD67-36BD790FC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8223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Need:</a:t>
            </a:r>
          </a:p>
          <a:p>
            <a:pPr lvl="1"/>
            <a:r>
              <a:rPr lang="en-US" dirty="0"/>
              <a:t>Computational workflow to predict qubit performance </a:t>
            </a:r>
          </a:p>
          <a:p>
            <a:pPr lvl="1"/>
            <a:r>
              <a:rPr lang="en-US" dirty="0"/>
              <a:t>Must be “cost-effective”</a:t>
            </a:r>
          </a:p>
          <a:p>
            <a:pPr lvl="2"/>
            <a:r>
              <a:rPr lang="en-US" dirty="0"/>
              <a:t>Large molecules </a:t>
            </a:r>
            <a:r>
              <a:rPr lang="en-US" dirty="0">
                <a:sym typeface="Wingdings" pitchFamily="2" charset="2"/>
              </a:rPr>
              <a:t> too big for CAS-based</a:t>
            </a:r>
          </a:p>
          <a:p>
            <a:pPr lvl="2"/>
            <a:r>
              <a:rPr lang="en-US" dirty="0"/>
              <a:t>DFT methods </a:t>
            </a:r>
            <a:r>
              <a:rPr lang="en-US" dirty="0">
                <a:sym typeface="Wingdings" pitchFamily="2" charset="2"/>
              </a:rPr>
              <a:t> accuracy depends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Objective:</a:t>
            </a:r>
          </a:p>
          <a:p>
            <a:pPr lvl="1"/>
            <a:r>
              <a:rPr lang="en-US" b="1" i="1" dirty="0"/>
              <a:t>Use electronic structure software and AIMS to accurately model state population decays!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ADD374-9438-8E7E-F22E-F7DA9D01BF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9130" y="2137330"/>
            <a:ext cx="5104670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882EEF-98D0-DA2A-9C80-9CD8E3C9EB47}"/>
              </a:ext>
            </a:extLst>
          </p:cNvPr>
          <p:cNvSpPr txBox="1"/>
          <p:nvPr/>
        </p:nvSpPr>
        <p:spPr>
          <a:xfrm>
            <a:off x="9283832" y="6488668"/>
            <a:ext cx="290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Maylander et al., JACS 2023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CC535-7131-892B-D168-AF799059B9FB}"/>
              </a:ext>
            </a:extLst>
          </p:cNvPr>
          <p:cNvSpPr txBox="1"/>
          <p:nvPr/>
        </p:nvSpPr>
        <p:spPr>
          <a:xfrm>
            <a:off x="6719351" y="1552189"/>
            <a:ext cx="416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Example Molecular Qubit System and Relevant Electronic Energy Levels</a:t>
            </a:r>
          </a:p>
        </p:txBody>
      </p:sp>
    </p:spTree>
    <p:extLst>
      <p:ext uri="{BB962C8B-B14F-4D97-AF65-F5344CB8AC3E}">
        <p14:creationId xmlns:p14="http://schemas.microsoft.com/office/powerpoint/2010/main" val="375062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FDD2-C0D4-FF08-635C-E28B5B21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F077-8B17-EB5C-1CFD-15308C7A89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small molecule to test efficiency</a:t>
            </a:r>
          </a:p>
          <a:p>
            <a:endParaRPr lang="en-US" dirty="0"/>
          </a:p>
          <a:p>
            <a:r>
              <a:rPr lang="en-US" dirty="0"/>
              <a:t>Analyze accuracy of DFT methods with different functionals</a:t>
            </a:r>
          </a:p>
          <a:p>
            <a:endParaRPr lang="en-US" dirty="0"/>
          </a:p>
          <a:p>
            <a:r>
              <a:rPr lang="en-US" dirty="0"/>
              <a:t>Use OpenMolcas/</a:t>
            </a:r>
            <a:r>
              <a:rPr lang="en-US" dirty="0" err="1"/>
              <a:t>PySpawn</a:t>
            </a:r>
            <a:r>
              <a:rPr lang="en-US" dirty="0"/>
              <a:t> to achieve population decays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4D63A-625B-7033-6F1F-CD8938E29EC9}"/>
              </a:ext>
            </a:extLst>
          </p:cNvPr>
          <p:cNvSpPr txBox="1"/>
          <p:nvPr/>
        </p:nvSpPr>
        <p:spPr>
          <a:xfrm>
            <a:off x="8381328" y="481447"/>
            <a:ext cx="201132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i="1" dirty="0"/>
              <a:t>Test Molecule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4D4C85A-7572-441E-D434-5D6AEC857CCD}"/>
              </a:ext>
            </a:extLst>
          </p:cNvPr>
          <p:cNvSpPr/>
          <p:nvPr/>
        </p:nvSpPr>
        <p:spPr>
          <a:xfrm>
            <a:off x="8763000" y="1093050"/>
            <a:ext cx="1247976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PySCF – General-purpose electronic structure platform written in Python.  This provides several methods such as Hartree-Fock, DFT, TDSCF/TDDFT, GW  method, CASCI/CASSCF MP2 CCSD, and CI. | MateriApps – A Portal Site of">
            <a:extLst>
              <a:ext uri="{FF2B5EF4-FFF2-40B4-BE49-F238E27FC236}">
                <a16:creationId xmlns:a16="http://schemas.microsoft.com/office/drawing/2014/main" id="{1017660A-145A-C8EA-59C8-8A9FF78E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041" y="1921520"/>
            <a:ext cx="3030837" cy="1039144"/>
          </a:xfrm>
          <a:prstGeom prst="rect">
            <a:avLst/>
          </a:prstGeom>
        </p:spPr>
      </p:pic>
      <p:pic>
        <p:nvPicPr>
          <p:cNvPr id="9" name="Picture 8" descr="Molcas / OpenMolcas · GitLab">
            <a:extLst>
              <a:ext uri="{FF2B5EF4-FFF2-40B4-BE49-F238E27FC236}">
                <a16:creationId xmlns:a16="http://schemas.microsoft.com/office/drawing/2014/main" id="{B3DCC064-BFD9-639A-B282-6760626FD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153" y="3939072"/>
            <a:ext cx="1620279" cy="1598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55E89-DB1C-0543-EA82-0F58E0276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432" y="4074078"/>
            <a:ext cx="2656703" cy="1193551"/>
          </a:xfrm>
          <a:prstGeom prst="rect">
            <a:avLst/>
          </a:prstGeom>
        </p:spPr>
      </p:pic>
      <p:sp>
        <p:nvSpPr>
          <p:cNvPr id="11" name="Down Arrow 10">
            <a:extLst>
              <a:ext uri="{FF2B5EF4-FFF2-40B4-BE49-F238E27FC236}">
                <a16:creationId xmlns:a16="http://schemas.microsoft.com/office/drawing/2014/main" id="{8765B8C4-BB9C-8FF3-D2BB-2CCEB4A627A0}"/>
              </a:ext>
            </a:extLst>
          </p:cNvPr>
          <p:cNvSpPr/>
          <p:nvPr/>
        </p:nvSpPr>
        <p:spPr>
          <a:xfrm>
            <a:off x="8763000" y="2960664"/>
            <a:ext cx="1247976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FA6A0DBD-A092-5CCB-2E01-0D2D29E0817D}"/>
              </a:ext>
            </a:extLst>
          </p:cNvPr>
          <p:cNvSpPr/>
          <p:nvPr/>
        </p:nvSpPr>
        <p:spPr>
          <a:xfrm>
            <a:off x="8763000" y="5332887"/>
            <a:ext cx="1247976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03FC7-CF08-59CA-591C-3777D467BB10}"/>
              </a:ext>
            </a:extLst>
          </p:cNvPr>
          <p:cNvSpPr txBox="1"/>
          <p:nvPr/>
        </p:nvSpPr>
        <p:spPr>
          <a:xfrm>
            <a:off x="7805112" y="6376553"/>
            <a:ext cx="3163751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i="1" dirty="0"/>
              <a:t>Excited State Analysis!</a:t>
            </a:r>
          </a:p>
        </p:txBody>
      </p:sp>
    </p:spTree>
    <p:extLst>
      <p:ext uri="{BB962C8B-B14F-4D97-AF65-F5344CB8AC3E}">
        <p14:creationId xmlns:p14="http://schemas.microsoft.com/office/powerpoint/2010/main" val="502692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E79E-3906-CAE3-46EE-C8ACB6DA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Molecule: Cyclopentadiene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80042-8121-1333-9B16-7FEA9EB40C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Stand-in for more complicated chromophores, nitroxides</a:t>
            </a:r>
          </a:p>
          <a:p>
            <a:endParaRPr lang="en-US" dirty="0"/>
          </a:p>
          <a:p>
            <a:r>
              <a:rPr lang="en-US" dirty="0"/>
              <a:t>Only C, H and 11 atoms</a:t>
            </a:r>
          </a:p>
          <a:p>
            <a:endParaRPr lang="en-US" dirty="0"/>
          </a:p>
          <a:p>
            <a:r>
              <a:rPr lang="en-US" dirty="0"/>
              <a:t>Calculate excited state energy levels and S1 population decay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5C6B05-5AAA-8DBC-7897-5B1D0DBE12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8300" y="1912144"/>
            <a:ext cx="40894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7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32DA-CFD4-E5F5-FAB6-BF85DA1C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Excitation Energies with DFT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56AF-76AB-EA27-D60B-AC23DC2ADE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Compared B3LYP with user-defined range-separated hybrid (RSH) functional</a:t>
            </a:r>
          </a:p>
          <a:p>
            <a:endParaRPr lang="en-US" dirty="0"/>
          </a:p>
          <a:p>
            <a:r>
              <a:rPr lang="en-US" dirty="0"/>
              <a:t>Partitions functional to have different fractions of exact exchange in short-range and long-range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D7BE8C-447C-2F3C-8E60-5644A8EED9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37123"/>
          <a:stretch>
            <a:fillRect/>
          </a:stretch>
        </p:blipFill>
        <p:spPr>
          <a:xfrm>
            <a:off x="6172202" y="1825625"/>
            <a:ext cx="5670127" cy="40932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AC6AD4-1B67-14E3-ED8C-8639AD7D01A3}"/>
              </a:ext>
            </a:extLst>
          </p:cNvPr>
          <p:cNvSpPr txBox="1"/>
          <p:nvPr/>
        </p:nvSpPr>
        <p:spPr>
          <a:xfrm>
            <a:off x="6831728" y="5992297"/>
            <a:ext cx="452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Implementation of RSH Functional in </a:t>
            </a:r>
            <a:r>
              <a:rPr lang="en-US" i="1" dirty="0" err="1"/>
              <a:t>PySCF</a:t>
            </a:r>
            <a:endParaRPr lang="en-US" i="1" dirty="0"/>
          </a:p>
          <a:p>
            <a:pPr algn="ctr"/>
            <a:r>
              <a:rPr lang="en-US" i="1" dirty="0"/>
              <a:t>(Partial File)</a:t>
            </a:r>
          </a:p>
        </p:txBody>
      </p:sp>
    </p:spTree>
    <p:extLst>
      <p:ext uri="{BB962C8B-B14F-4D97-AF65-F5344CB8AC3E}">
        <p14:creationId xmlns:p14="http://schemas.microsoft.com/office/powerpoint/2010/main" val="195235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77F4-BF5E-61B7-81D9-7057F471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Excitation Energies with DFT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1485-9256-2524-C5FC-5D86B34A6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778" y="1847164"/>
            <a:ext cx="5181600" cy="4351338"/>
          </a:xfrm>
        </p:spPr>
        <p:txBody>
          <a:bodyPr/>
          <a:lstStyle/>
          <a:p>
            <a:r>
              <a:rPr lang="en-US" dirty="0"/>
              <a:t>Compared first 6 excited state energies to QUEST data set</a:t>
            </a:r>
          </a:p>
          <a:p>
            <a:endParaRPr lang="en-US" dirty="0"/>
          </a:p>
          <a:p>
            <a:r>
              <a:rPr lang="en-US" dirty="0"/>
              <a:t>B3LYP consistently underestimates</a:t>
            </a:r>
          </a:p>
          <a:p>
            <a:endParaRPr lang="en-US" dirty="0"/>
          </a:p>
          <a:p>
            <a:r>
              <a:rPr lang="en-US" dirty="0"/>
              <a:t>RSH accurately predicted both oscillator strengths and energies (~0.1 eV or less)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DF683C-675F-B666-972D-1B0C6549E1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825625"/>
            <a:ext cx="6171817" cy="2132276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51C88A46-EFE4-C1C4-DDE2-10B7D8679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092838"/>
            <a:ext cx="2906584" cy="23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4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8CD7-4878-9A33-38F3-A1B7933A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769"/>
            <a:ext cx="11094308" cy="1325563"/>
          </a:xfrm>
        </p:spPr>
        <p:txBody>
          <a:bodyPr/>
          <a:lstStyle/>
          <a:p>
            <a:r>
              <a:rPr lang="en-US" dirty="0"/>
              <a:t>OpenMolcas/</a:t>
            </a:r>
            <a:r>
              <a:rPr lang="en-US" dirty="0" err="1"/>
              <a:t>PySpawn</a:t>
            </a:r>
            <a:r>
              <a:rPr lang="en-US" dirty="0"/>
              <a:t> for S1 Population Decay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9A381-E5BA-F35B-3240-4B3760E26A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Cyclopentadiene optimized on home resources</a:t>
            </a:r>
          </a:p>
          <a:p>
            <a:endParaRPr lang="en-US" dirty="0"/>
          </a:p>
          <a:p>
            <a:r>
              <a:rPr lang="en-US" dirty="0"/>
              <a:t>Geometry used in OpenMolcas </a:t>
            </a:r>
          </a:p>
          <a:p>
            <a:endParaRPr lang="en-US" dirty="0"/>
          </a:p>
          <a:p>
            <a:r>
              <a:rPr lang="en-US" dirty="0"/>
              <a:t>Adapted file from 03_S1 Tutorial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8F7F82-500A-2C8C-1B49-B0708B0ABC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10956" y="1678332"/>
            <a:ext cx="372421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E0F38D-AACA-3143-56C1-9774141C6728}"/>
              </a:ext>
            </a:extLst>
          </p:cNvPr>
          <p:cNvSpPr txBox="1"/>
          <p:nvPr/>
        </p:nvSpPr>
        <p:spPr>
          <a:xfrm>
            <a:off x="6944497" y="6176963"/>
            <a:ext cx="4242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OpenMolcas Input for C</a:t>
            </a:r>
            <a:r>
              <a:rPr lang="en-US" i="1" baseline="-25000" dirty="0"/>
              <a:t>5</a:t>
            </a:r>
            <a:r>
              <a:rPr lang="en-US" i="1" dirty="0"/>
              <a:t>H</a:t>
            </a:r>
            <a:r>
              <a:rPr lang="en-US" i="1" baseline="-25000" dirty="0"/>
              <a:t>6 </a:t>
            </a:r>
            <a:r>
              <a:rPr lang="en-US" i="1" dirty="0"/>
              <a:t>(Partial Input)</a:t>
            </a:r>
          </a:p>
        </p:txBody>
      </p:sp>
    </p:spTree>
    <p:extLst>
      <p:ext uri="{BB962C8B-B14F-4D97-AF65-F5344CB8AC3E}">
        <p14:creationId xmlns:p14="http://schemas.microsoft.com/office/powerpoint/2010/main" val="184261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B676-20F5-1AC2-EBCA-73752279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PySpawn</a:t>
            </a:r>
            <a:r>
              <a:rPr lang="en-US" dirty="0"/>
              <a:t> Utilization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97C1-DB04-A35F-EA1B-E22B0F0A6A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Calculated Hessian from ORCA on home resources</a:t>
            </a:r>
          </a:p>
          <a:p>
            <a:endParaRPr lang="en-US" dirty="0"/>
          </a:p>
          <a:p>
            <a:r>
              <a:rPr lang="en-US" dirty="0"/>
              <a:t>Utilized script for transfer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Carried out </a:t>
            </a:r>
            <a:r>
              <a:rPr lang="en-US" dirty="0" err="1"/>
              <a:t>Generate_ICs.sh</a:t>
            </a:r>
            <a:r>
              <a:rPr lang="en-US" dirty="0"/>
              <a:t> script for </a:t>
            </a:r>
            <a:r>
              <a:rPr lang="en-US" dirty="0" err="1"/>
              <a:t>PySpawn</a:t>
            </a:r>
            <a:endParaRPr lang="en-US" dirty="0"/>
          </a:p>
          <a:p>
            <a:endParaRPr lang="en-US" dirty="0"/>
          </a:p>
          <a:p>
            <a:r>
              <a:rPr lang="en-US" dirty="0"/>
              <a:t>S1 Population Decay Calculated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467006-6C1F-1A70-7025-57F9B99125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61148"/>
            <a:ext cx="5181600" cy="368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0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6C7D-7FC4-485B-7290-FA108C41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Results: 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4FC98-E499-3EFE-EB7A-79FF482F9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Utilized </a:t>
            </a:r>
            <a:r>
              <a:rPr lang="en-US" dirty="0" err="1"/>
              <a:t>PySCF</a:t>
            </a:r>
            <a:r>
              <a:rPr lang="en-US" dirty="0"/>
              <a:t> and OpenMolcas to conduct high-level excited state calculations</a:t>
            </a:r>
          </a:p>
          <a:p>
            <a:endParaRPr lang="en-US" dirty="0"/>
          </a:p>
          <a:p>
            <a:r>
              <a:rPr lang="en-US" dirty="0"/>
              <a:t>Displayed the impact of proper functional choice on TDDFT/TDA accuracy</a:t>
            </a:r>
          </a:p>
          <a:p>
            <a:endParaRPr lang="en-US" dirty="0"/>
          </a:p>
          <a:p>
            <a:r>
              <a:rPr lang="en-US" dirty="0"/>
              <a:t>Performed </a:t>
            </a:r>
            <a:r>
              <a:rPr lang="en-US" dirty="0" err="1"/>
              <a:t>PySpawn</a:t>
            </a:r>
            <a:r>
              <a:rPr lang="en-US" dirty="0"/>
              <a:t> simulation on test system for further use in QIS studies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2B0708EB-A0FC-556A-113A-4665B81946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9400" y="4702705"/>
            <a:ext cx="5181600" cy="179017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DAE437-F51E-B710-7596-D9A9211E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929" y="1486586"/>
            <a:ext cx="4026243" cy="28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3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7369-FADC-EABC-51B9-418E48C1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08" y="71458"/>
            <a:ext cx="10515600" cy="1325563"/>
          </a:xfrm>
        </p:spPr>
        <p:txBody>
          <a:bodyPr/>
          <a:lstStyle/>
          <a:p>
            <a:r>
              <a:rPr lang="en-US" dirty="0"/>
              <a:t>Preliminary Results: 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434C-F969-0F8F-AA33-2823E24C2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1276" y="1198606"/>
            <a:ext cx="5698524" cy="54826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Connection of </a:t>
            </a:r>
            <a:r>
              <a:rPr lang="en-US" dirty="0" err="1"/>
              <a:t>PySpawn</a:t>
            </a:r>
            <a:r>
              <a:rPr lang="en-US" dirty="0"/>
              <a:t> to Q-Chem / ORCA software</a:t>
            </a:r>
          </a:p>
          <a:p>
            <a:endParaRPr lang="en-US" dirty="0"/>
          </a:p>
          <a:p>
            <a:r>
              <a:rPr lang="en-US" dirty="0"/>
              <a:t>Utilization of SRSH-PCM TDDFT methods for cost-effective, accurate excited states for AIMS</a:t>
            </a:r>
          </a:p>
          <a:p>
            <a:endParaRPr lang="en-US" dirty="0"/>
          </a:p>
          <a:p>
            <a:r>
              <a:rPr lang="en-US" dirty="0"/>
              <a:t>Expand to experimentally-examined qubits like PDI-derivatives, nitroxide-based</a:t>
            </a:r>
          </a:p>
          <a:p>
            <a:endParaRPr lang="en-US" dirty="0"/>
          </a:p>
          <a:p>
            <a:r>
              <a:rPr lang="en-US" dirty="0"/>
              <a:t>Utilization of disparate packages (i.e. TENSO) for similar computational studies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F8B69-22E1-8627-D417-23F3F5ACBC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60454"/>
          <a:stretch>
            <a:fillRect/>
          </a:stretch>
        </p:blipFill>
        <p:spPr>
          <a:xfrm>
            <a:off x="5692952" y="2541609"/>
            <a:ext cx="6499048" cy="2919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B5AD0E-44E5-D600-72A8-A38831493230}"/>
              </a:ext>
            </a:extLst>
          </p:cNvPr>
          <p:cNvSpPr txBox="1"/>
          <p:nvPr/>
        </p:nvSpPr>
        <p:spPr>
          <a:xfrm>
            <a:off x="9048832" y="6311900"/>
            <a:ext cx="2970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Maylander et al., JACS 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3DC55B-5B64-8D27-B625-651CE5E41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467" y="5234771"/>
            <a:ext cx="8763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68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4A19-D2C6-93A9-3EF6-EABFA562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32" y="256483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71AF65-DE07-DACA-1842-FF8D27C8F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031" y="878186"/>
            <a:ext cx="11398313" cy="58666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lt-LT" sz="4800" dirty="0"/>
              <a:t>(1) </a:t>
            </a:r>
            <a:r>
              <a:rPr lang="lt-LT" sz="4800" dirty="0" err="1"/>
              <a:t>Bonizzoni</a:t>
            </a:r>
            <a:r>
              <a:rPr lang="lt-LT" sz="4800" dirty="0"/>
              <a:t>, C.; </a:t>
            </a:r>
            <a:r>
              <a:rPr lang="lt-LT" sz="4800" dirty="0" err="1"/>
              <a:t>Ghirri</a:t>
            </a:r>
            <a:r>
              <a:rPr lang="lt-LT" sz="4800" dirty="0"/>
              <a:t>, A.; </a:t>
            </a:r>
            <a:r>
              <a:rPr lang="lt-LT" sz="4800" dirty="0" err="1"/>
              <a:t>Santanni</a:t>
            </a:r>
            <a:r>
              <a:rPr lang="lt-LT" sz="4800" dirty="0"/>
              <a:t>, </a:t>
            </a:r>
            <a:r>
              <a:rPr lang="lt-LT" sz="4800" dirty="0" err="1"/>
              <a:t>F</a:t>
            </a:r>
            <a:r>
              <a:rPr lang="lt-LT" sz="4800" dirty="0"/>
              <a:t>.; </a:t>
            </a:r>
            <a:r>
              <a:rPr lang="lt-LT" sz="4800" dirty="0" err="1"/>
              <a:t>Affronte</a:t>
            </a:r>
            <a:r>
              <a:rPr lang="lt-LT" sz="4800" dirty="0"/>
              <a:t>, M. Quantum </a:t>
            </a:r>
            <a:r>
              <a:rPr lang="lt-LT" sz="4800" dirty="0" err="1"/>
              <a:t>sensing</a:t>
            </a:r>
            <a:r>
              <a:rPr lang="lt-LT" sz="4800" dirty="0"/>
              <a:t> </a:t>
            </a:r>
            <a:r>
              <a:rPr lang="lt-LT" sz="4800" dirty="0" err="1"/>
              <a:t>of</a:t>
            </a:r>
            <a:r>
              <a:rPr lang="lt-LT" sz="4800" dirty="0"/>
              <a:t> </a:t>
            </a:r>
            <a:r>
              <a:rPr lang="lt-LT" sz="4800" dirty="0" err="1"/>
              <a:t>magnetic</a:t>
            </a:r>
            <a:r>
              <a:rPr lang="lt-LT" sz="4800" dirty="0"/>
              <a:t> </a:t>
            </a:r>
            <a:r>
              <a:rPr lang="lt-LT" sz="4800" dirty="0" err="1"/>
              <a:t>fields</a:t>
            </a:r>
            <a:r>
              <a:rPr lang="lt-LT" sz="4800" dirty="0"/>
              <a:t> </a:t>
            </a:r>
            <a:r>
              <a:rPr lang="lt-LT" sz="4800" dirty="0" err="1"/>
              <a:t>with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spins</a:t>
            </a:r>
            <a:r>
              <a:rPr lang="lt-LT" sz="4800" dirty="0"/>
              <a:t>. </a:t>
            </a:r>
            <a:r>
              <a:rPr lang="lt-LT" sz="4800" i="1" dirty="0" err="1"/>
              <a:t>npj</a:t>
            </a:r>
            <a:r>
              <a:rPr lang="lt-LT" sz="4800" i="1" dirty="0"/>
              <a:t> Quantum </a:t>
            </a:r>
            <a:r>
              <a:rPr lang="lt-LT" sz="4800" i="1" dirty="0" err="1"/>
              <a:t>Information</a:t>
            </a:r>
            <a:r>
              <a:rPr lang="lt-LT" sz="4800" i="1" dirty="0"/>
              <a:t> </a:t>
            </a:r>
            <a:r>
              <a:rPr lang="lt-LT" sz="4800" b="1" dirty="0"/>
              <a:t>2024</a:t>
            </a:r>
            <a:r>
              <a:rPr lang="lt-LT" sz="4800" dirty="0"/>
              <a:t>, </a:t>
            </a:r>
            <a:r>
              <a:rPr lang="lt-LT" sz="4800" i="1" dirty="0"/>
              <a:t>10</a:t>
            </a:r>
            <a:r>
              <a:rPr lang="lt-LT" sz="4800" dirty="0"/>
              <a:t> (1), 41. DOI: 10.1038/s41534-024-00838-5.</a:t>
            </a:r>
          </a:p>
          <a:p>
            <a:pPr marL="0" indent="0">
              <a:buNone/>
            </a:pPr>
            <a:r>
              <a:rPr lang="lt-LT" sz="4800" dirty="0"/>
              <a:t>(2) </a:t>
            </a:r>
            <a:r>
              <a:rPr lang="lt-LT" sz="4800" dirty="0" err="1"/>
              <a:t>Chen</a:t>
            </a:r>
            <a:r>
              <a:rPr lang="lt-LT" sz="4800" dirty="0"/>
              <a:t>, </a:t>
            </a:r>
            <a:r>
              <a:rPr lang="lt-LT" sz="4800" dirty="0" err="1"/>
              <a:t>Q</a:t>
            </a:r>
            <a:r>
              <a:rPr lang="lt-LT" sz="4800" dirty="0"/>
              <a:t>.; </a:t>
            </a:r>
            <a:r>
              <a:rPr lang="lt-LT" sz="4800" dirty="0" err="1"/>
              <a:t>Lodi</a:t>
            </a:r>
            <a:r>
              <a:rPr lang="lt-LT" sz="4800" dirty="0"/>
              <a:t>, A.; </a:t>
            </a:r>
            <a:r>
              <a:rPr lang="lt-LT" sz="4800" dirty="0" err="1"/>
              <a:t>Zhang</a:t>
            </a:r>
            <a:r>
              <a:rPr lang="lt-LT" sz="4800" dirty="0"/>
              <a:t>, </a:t>
            </a:r>
            <a:r>
              <a:rPr lang="lt-LT" sz="4800" dirty="0" err="1"/>
              <a:t>H</a:t>
            </a:r>
            <a:r>
              <a:rPr lang="lt-LT" sz="4800" dirty="0"/>
              <a:t>.; </a:t>
            </a:r>
            <a:r>
              <a:rPr lang="lt-LT" sz="4800" dirty="0" err="1"/>
              <a:t>Gee</a:t>
            </a:r>
            <a:r>
              <a:rPr lang="lt-LT" sz="4800" dirty="0"/>
              <a:t>, A.; </a:t>
            </a:r>
            <a:r>
              <a:rPr lang="lt-LT" sz="4800" dirty="0" err="1"/>
              <a:t>Wang</a:t>
            </a:r>
            <a:r>
              <a:rPr lang="lt-LT" sz="4800" dirty="0"/>
              <a:t>, </a:t>
            </a:r>
            <a:r>
              <a:rPr lang="lt-LT" sz="4800" dirty="0" err="1"/>
              <a:t>H</a:t>
            </a:r>
            <a:r>
              <a:rPr lang="lt-LT" sz="4800" dirty="0"/>
              <a:t>. I.; </a:t>
            </a:r>
            <a:r>
              <a:rPr lang="lt-LT" sz="4800" dirty="0" err="1"/>
              <a:t>Kong</a:t>
            </a:r>
            <a:r>
              <a:rPr lang="lt-LT" sz="4800" dirty="0"/>
              <a:t>, </a:t>
            </a:r>
            <a:r>
              <a:rPr lang="lt-LT" sz="4800" dirty="0" err="1"/>
              <a:t>F</a:t>
            </a:r>
            <a:r>
              <a:rPr lang="lt-LT" sz="4800" dirty="0"/>
              <a:t>.; </a:t>
            </a:r>
            <a:r>
              <a:rPr lang="lt-LT" sz="4800" dirty="0" err="1"/>
              <a:t>Clarke</a:t>
            </a:r>
            <a:r>
              <a:rPr lang="lt-LT" sz="4800" dirty="0"/>
              <a:t>, M.; </a:t>
            </a:r>
            <a:r>
              <a:rPr lang="lt-LT" sz="4800" dirty="0" err="1"/>
              <a:t>Edmondson</a:t>
            </a:r>
            <a:r>
              <a:rPr lang="lt-LT" sz="4800" dirty="0"/>
              <a:t>, M.; </a:t>
            </a:r>
            <a:r>
              <a:rPr lang="lt-LT" sz="4800" dirty="0" err="1"/>
              <a:t>Hart</a:t>
            </a:r>
            <a:r>
              <a:rPr lang="lt-LT" sz="4800" dirty="0"/>
              <a:t>, </a:t>
            </a:r>
            <a:r>
              <a:rPr lang="lt-LT" sz="4800" dirty="0" err="1"/>
              <a:t>J</a:t>
            </a:r>
            <a:r>
              <a:rPr lang="lt-LT" sz="4800" dirty="0"/>
              <a:t>.; </a:t>
            </a:r>
            <a:r>
              <a:rPr lang="lt-LT" sz="4800" dirty="0" err="1"/>
              <a:t>O’Shea</a:t>
            </a:r>
            <a:r>
              <a:rPr lang="lt-LT" sz="4800" dirty="0"/>
              <a:t>, </a:t>
            </a:r>
            <a:r>
              <a:rPr lang="lt-LT" sz="4800" dirty="0" err="1"/>
              <a:t>J</a:t>
            </a:r>
            <a:r>
              <a:rPr lang="lt-LT" sz="4800" dirty="0"/>
              <a:t>. </a:t>
            </a:r>
            <a:r>
              <a:rPr lang="lt-LT" sz="4800" dirty="0" err="1"/>
              <a:t>N</a:t>
            </a:r>
            <a:r>
              <a:rPr lang="lt-LT" sz="4800" dirty="0"/>
              <a:t>.; et al. </a:t>
            </a:r>
            <a:r>
              <a:rPr lang="lt-LT" sz="4800" dirty="0" err="1"/>
              <a:t>Porphyrin-fused</a:t>
            </a:r>
            <a:r>
              <a:rPr lang="lt-LT" sz="4800" dirty="0"/>
              <a:t> </a:t>
            </a:r>
            <a:r>
              <a:rPr lang="lt-LT" sz="4800" dirty="0" err="1"/>
              <a:t>graphene</a:t>
            </a:r>
            <a:r>
              <a:rPr lang="lt-LT" sz="4800" dirty="0"/>
              <a:t> </a:t>
            </a:r>
            <a:r>
              <a:rPr lang="lt-LT" sz="4800" dirty="0" err="1"/>
              <a:t>nanoribbons</a:t>
            </a:r>
            <a:r>
              <a:rPr lang="lt-LT" sz="4800" dirty="0"/>
              <a:t>. </a:t>
            </a:r>
            <a:r>
              <a:rPr lang="lt-LT" sz="4800" i="1" dirty="0" err="1"/>
              <a:t>Nature</a:t>
            </a:r>
            <a:r>
              <a:rPr lang="lt-LT" sz="4800" i="1" dirty="0"/>
              <a:t> </a:t>
            </a:r>
            <a:r>
              <a:rPr lang="lt-LT" sz="4800" i="1" dirty="0" err="1"/>
              <a:t>Chemistry</a:t>
            </a:r>
            <a:r>
              <a:rPr lang="lt-LT" sz="4800" i="1" dirty="0"/>
              <a:t> </a:t>
            </a:r>
            <a:r>
              <a:rPr lang="lt-LT" sz="4800" b="1" dirty="0"/>
              <a:t>2024</a:t>
            </a:r>
            <a:r>
              <a:rPr lang="lt-LT" sz="4800" dirty="0"/>
              <a:t>, </a:t>
            </a:r>
            <a:r>
              <a:rPr lang="lt-LT" sz="4800" i="1" dirty="0"/>
              <a:t>16</a:t>
            </a:r>
            <a:r>
              <a:rPr lang="lt-LT" sz="4800" dirty="0"/>
              <a:t> (7), 1133-1140. DOI: 10.1038/s41557-024-01477-1.</a:t>
            </a:r>
          </a:p>
          <a:p>
            <a:pPr marL="0" indent="0">
              <a:buNone/>
            </a:pPr>
            <a:r>
              <a:rPr lang="lt-LT" sz="4800" dirty="0"/>
              <a:t>(3) </a:t>
            </a:r>
            <a:r>
              <a:rPr lang="lt-LT" sz="4800" dirty="0" err="1"/>
              <a:t>Hou</a:t>
            </a:r>
            <a:r>
              <a:rPr lang="lt-LT" sz="4800" dirty="0"/>
              <a:t>, L.; </a:t>
            </a:r>
            <a:r>
              <a:rPr lang="lt-LT" sz="4800" dirty="0" err="1"/>
              <a:t>Zhang</a:t>
            </a:r>
            <a:r>
              <a:rPr lang="lt-LT" sz="4800" dirty="0"/>
              <a:t>, Y.-S.; </a:t>
            </a:r>
            <a:r>
              <a:rPr lang="lt-LT" sz="4800" dirty="0" err="1"/>
              <a:t>Zhang</a:t>
            </a:r>
            <a:r>
              <a:rPr lang="lt-LT" sz="4800" dirty="0"/>
              <a:t>, Y.; </a:t>
            </a:r>
            <a:r>
              <a:rPr lang="lt-LT" sz="4800" dirty="0" err="1"/>
              <a:t>Jiang</a:t>
            </a:r>
            <a:r>
              <a:rPr lang="lt-LT" sz="4800" dirty="0"/>
              <a:t>, S.-D.; </a:t>
            </a:r>
            <a:r>
              <a:rPr lang="lt-LT" sz="4800" dirty="0" err="1"/>
              <a:t>Wang</a:t>
            </a:r>
            <a:r>
              <a:rPr lang="lt-LT" sz="4800" dirty="0"/>
              <a:t>, M. </a:t>
            </a:r>
            <a:r>
              <a:rPr lang="lt-LT" sz="4800" dirty="0" err="1"/>
              <a:t>Tunable</a:t>
            </a:r>
            <a:r>
              <a:rPr lang="lt-LT" sz="4800" dirty="0"/>
              <a:t> Quantum </a:t>
            </a:r>
            <a:r>
              <a:rPr lang="lt-LT" sz="4800" dirty="0" err="1"/>
              <a:t>Coherence</a:t>
            </a:r>
            <a:r>
              <a:rPr lang="lt-LT" sz="4800" dirty="0"/>
              <a:t> </a:t>
            </a:r>
            <a:r>
              <a:rPr lang="lt-LT" sz="4800" dirty="0" err="1"/>
              <a:t>of</a:t>
            </a:r>
            <a:r>
              <a:rPr lang="lt-LT" sz="4800" dirty="0"/>
              <a:t> </a:t>
            </a:r>
            <a:r>
              <a:rPr lang="lt-LT" sz="4800" dirty="0" err="1"/>
              <a:t>Luminescent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Spins</a:t>
            </a:r>
            <a:r>
              <a:rPr lang="lt-LT" sz="4800" dirty="0"/>
              <a:t> </a:t>
            </a:r>
            <a:r>
              <a:rPr lang="lt-LT" sz="4800" dirty="0" err="1"/>
              <a:t>Organized</a:t>
            </a:r>
            <a:r>
              <a:rPr lang="lt-LT" sz="4800" dirty="0"/>
              <a:t> via </a:t>
            </a:r>
            <a:r>
              <a:rPr lang="lt-LT" sz="4800" dirty="0" err="1"/>
              <a:t>Block</a:t>
            </a:r>
            <a:r>
              <a:rPr lang="lt-LT" sz="4800" dirty="0"/>
              <a:t> </a:t>
            </a:r>
            <a:r>
              <a:rPr lang="lt-LT" sz="4800" dirty="0" err="1"/>
              <a:t>Copolymer</a:t>
            </a:r>
            <a:r>
              <a:rPr lang="lt-LT" sz="4800" dirty="0"/>
              <a:t> </a:t>
            </a:r>
            <a:r>
              <a:rPr lang="lt-LT" sz="4800" dirty="0" err="1"/>
              <a:t>Self-Assembly</a:t>
            </a:r>
            <a:r>
              <a:rPr lang="lt-LT" sz="4800" dirty="0"/>
              <a:t>. </a:t>
            </a:r>
            <a:r>
              <a:rPr lang="lt-LT" sz="4800" i="1" dirty="0" err="1"/>
              <a:t>Advanced</a:t>
            </a:r>
            <a:r>
              <a:rPr lang="lt-LT" sz="4800" i="1" dirty="0"/>
              <a:t> Quantum Technologies </a:t>
            </a:r>
            <a:r>
              <a:rPr lang="lt-LT" sz="4800" b="1" dirty="0"/>
              <a:t>2024</a:t>
            </a:r>
            <a:r>
              <a:rPr lang="lt-LT" sz="4800" dirty="0"/>
              <a:t>, </a:t>
            </a:r>
            <a:r>
              <a:rPr lang="lt-LT" sz="4800" i="1" dirty="0"/>
              <a:t>7</a:t>
            </a:r>
            <a:r>
              <a:rPr lang="lt-LT" sz="4800" dirty="0"/>
              <a:t> (7), 2400064. DOI: https://doi.org/10.1002/qute.202400064 (</a:t>
            </a:r>
            <a:r>
              <a:rPr lang="lt-LT" sz="4800" dirty="0" err="1"/>
              <a:t>accessed</a:t>
            </a:r>
            <a:r>
              <a:rPr lang="lt-LT" sz="4800" dirty="0"/>
              <a:t> 2025/10/08).</a:t>
            </a:r>
          </a:p>
          <a:p>
            <a:pPr marL="0" indent="0">
              <a:buNone/>
            </a:pPr>
            <a:r>
              <a:rPr lang="lt-LT" sz="4800" dirty="0"/>
              <a:t>(4) </a:t>
            </a:r>
            <a:r>
              <a:rPr lang="lt-LT" sz="4800" dirty="0" err="1"/>
              <a:t>Mao</a:t>
            </a:r>
            <a:r>
              <a:rPr lang="lt-LT" sz="4800" dirty="0"/>
              <a:t>, </a:t>
            </a:r>
            <a:r>
              <a:rPr lang="lt-LT" sz="4800" dirty="0" err="1"/>
              <a:t>H</a:t>
            </a:r>
            <a:r>
              <a:rPr lang="lt-LT" sz="4800" dirty="0"/>
              <a:t>.; Pažėra, </a:t>
            </a:r>
            <a:r>
              <a:rPr lang="lt-LT" sz="4800" dirty="0" err="1"/>
              <a:t>G</a:t>
            </a:r>
            <a:r>
              <a:rPr lang="lt-LT" sz="4800" dirty="0"/>
              <a:t>. </a:t>
            </a:r>
            <a:r>
              <a:rPr lang="lt-LT" sz="4800" dirty="0" err="1"/>
              <a:t>J</a:t>
            </a:r>
            <a:r>
              <a:rPr lang="lt-LT" sz="4800" dirty="0"/>
              <a:t>.; Young, </a:t>
            </a:r>
            <a:r>
              <a:rPr lang="lt-LT" sz="4800" dirty="0" err="1"/>
              <a:t>R</a:t>
            </a:r>
            <a:r>
              <a:rPr lang="lt-LT" sz="4800" dirty="0"/>
              <a:t>. M.; </a:t>
            </a:r>
            <a:r>
              <a:rPr lang="lt-LT" sz="4800" dirty="0" err="1"/>
              <a:t>Krzyaniak</a:t>
            </a:r>
            <a:r>
              <a:rPr lang="lt-LT" sz="4800" dirty="0"/>
              <a:t>, M. D.; </a:t>
            </a:r>
            <a:r>
              <a:rPr lang="lt-LT" sz="4800" dirty="0" err="1"/>
              <a:t>Wasielewski</a:t>
            </a:r>
            <a:r>
              <a:rPr lang="lt-LT" sz="4800" dirty="0"/>
              <a:t>, M. </a:t>
            </a:r>
            <a:r>
              <a:rPr lang="lt-LT" sz="4800" dirty="0" err="1"/>
              <a:t>R</a:t>
            </a:r>
            <a:r>
              <a:rPr lang="lt-LT" sz="4800" dirty="0"/>
              <a:t>. Quantum </a:t>
            </a:r>
            <a:r>
              <a:rPr lang="lt-LT" sz="4800" dirty="0" err="1"/>
              <a:t>Gate</a:t>
            </a:r>
            <a:r>
              <a:rPr lang="lt-LT" sz="4800" dirty="0"/>
              <a:t> </a:t>
            </a:r>
            <a:r>
              <a:rPr lang="lt-LT" sz="4800" dirty="0" err="1"/>
              <a:t>Operations</a:t>
            </a:r>
            <a:r>
              <a:rPr lang="lt-LT" sz="4800" dirty="0"/>
              <a:t> </a:t>
            </a:r>
            <a:r>
              <a:rPr lang="lt-LT" sz="4800" dirty="0" err="1"/>
              <a:t>on</a:t>
            </a:r>
            <a:r>
              <a:rPr lang="lt-LT" sz="4800" dirty="0"/>
              <a:t> a </a:t>
            </a:r>
            <a:r>
              <a:rPr lang="lt-LT" sz="4800" dirty="0" err="1"/>
              <a:t>Spectrally</a:t>
            </a:r>
            <a:r>
              <a:rPr lang="lt-LT" sz="4800" dirty="0"/>
              <a:t> </a:t>
            </a:r>
            <a:r>
              <a:rPr lang="lt-LT" sz="4800" dirty="0" err="1"/>
              <a:t>Addressable</a:t>
            </a:r>
            <a:r>
              <a:rPr lang="lt-LT" sz="4800" dirty="0"/>
              <a:t> </a:t>
            </a:r>
            <a:r>
              <a:rPr lang="lt-LT" sz="4800" dirty="0" err="1"/>
              <a:t>Photogenerated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Electron</a:t>
            </a:r>
            <a:r>
              <a:rPr lang="lt-LT" sz="4800" dirty="0"/>
              <a:t> </a:t>
            </a:r>
            <a:r>
              <a:rPr lang="lt-LT" sz="4800" dirty="0" err="1"/>
              <a:t>Spin-Qubit</a:t>
            </a:r>
            <a:r>
              <a:rPr lang="lt-LT" sz="4800" dirty="0"/>
              <a:t> </a:t>
            </a:r>
            <a:r>
              <a:rPr lang="lt-LT" sz="4800" dirty="0" err="1"/>
              <a:t>Pair</a:t>
            </a:r>
            <a:r>
              <a:rPr lang="lt-LT" sz="4800" dirty="0"/>
              <a:t>. </a:t>
            </a:r>
            <a:r>
              <a:rPr lang="lt-LT" sz="4800" i="1" dirty="0" err="1"/>
              <a:t>Journal</a:t>
            </a:r>
            <a:r>
              <a:rPr lang="lt-LT" sz="4800" i="1" dirty="0"/>
              <a:t> </a:t>
            </a:r>
            <a:r>
              <a:rPr lang="lt-LT" sz="4800" i="1" dirty="0" err="1"/>
              <a:t>of</a:t>
            </a:r>
            <a:r>
              <a:rPr lang="lt-LT" sz="4800" i="1" dirty="0"/>
              <a:t> </a:t>
            </a:r>
            <a:r>
              <a:rPr lang="lt-LT" sz="4800" i="1" dirty="0" err="1"/>
              <a:t>the</a:t>
            </a:r>
            <a:r>
              <a:rPr lang="lt-LT" sz="4800" i="1" dirty="0"/>
              <a:t> American 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Society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145</a:t>
            </a:r>
            <a:r>
              <a:rPr lang="lt-LT" sz="4800" dirty="0"/>
              <a:t> (11), 6585-6593. DOI: 10.1021/jacs.3c01243.</a:t>
            </a:r>
          </a:p>
          <a:p>
            <a:pPr marL="0" indent="0">
              <a:buNone/>
            </a:pPr>
            <a:r>
              <a:rPr lang="lt-LT" sz="4800" dirty="0"/>
              <a:t>(5) </a:t>
            </a:r>
            <a:r>
              <a:rPr lang="lt-LT" sz="4800" dirty="0" err="1"/>
              <a:t>Mayländer</a:t>
            </a:r>
            <a:r>
              <a:rPr lang="lt-LT" sz="4800" dirty="0"/>
              <a:t>, M.; </a:t>
            </a:r>
            <a:r>
              <a:rPr lang="lt-LT" sz="4800" dirty="0" err="1"/>
              <a:t>Chen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.; </a:t>
            </a:r>
            <a:r>
              <a:rPr lang="lt-LT" sz="4800" dirty="0" err="1"/>
              <a:t>Lorenzo</a:t>
            </a:r>
            <a:r>
              <a:rPr lang="lt-LT" sz="4800" dirty="0"/>
              <a:t>, E. </a:t>
            </a:r>
            <a:r>
              <a:rPr lang="lt-LT" sz="4800" dirty="0" err="1"/>
              <a:t>R</a:t>
            </a:r>
            <a:r>
              <a:rPr lang="lt-LT" sz="4800" dirty="0"/>
              <a:t>.; </a:t>
            </a:r>
            <a:r>
              <a:rPr lang="lt-LT" sz="4800" dirty="0" err="1"/>
              <a:t>Wasielewski</a:t>
            </a:r>
            <a:r>
              <a:rPr lang="lt-LT" sz="4800" dirty="0"/>
              <a:t>, M. </a:t>
            </a:r>
            <a:r>
              <a:rPr lang="lt-LT" sz="4800" dirty="0" err="1"/>
              <a:t>R</a:t>
            </a:r>
            <a:r>
              <a:rPr lang="lt-LT" sz="4800" dirty="0"/>
              <a:t>.; </a:t>
            </a:r>
            <a:r>
              <a:rPr lang="lt-LT" sz="4800" dirty="0" err="1"/>
              <a:t>Richert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 </a:t>
            </a:r>
            <a:r>
              <a:rPr lang="lt-LT" sz="4800" dirty="0" err="1"/>
              <a:t>Exploring</a:t>
            </a:r>
            <a:r>
              <a:rPr lang="lt-LT" sz="4800" dirty="0"/>
              <a:t> </a:t>
            </a:r>
            <a:r>
              <a:rPr lang="lt-LT" sz="4800" dirty="0" err="1"/>
              <a:t>Photogenerated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Quartet</a:t>
            </a:r>
            <a:r>
              <a:rPr lang="lt-LT" sz="4800" dirty="0"/>
              <a:t> </a:t>
            </a:r>
            <a:r>
              <a:rPr lang="lt-LT" sz="4800" dirty="0" err="1"/>
              <a:t>States</a:t>
            </a:r>
            <a:r>
              <a:rPr lang="lt-LT" sz="4800" dirty="0"/>
              <a:t> </a:t>
            </a:r>
            <a:r>
              <a:rPr lang="lt-LT" sz="4800" dirty="0" err="1"/>
              <a:t>as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Qubits</a:t>
            </a:r>
            <a:r>
              <a:rPr lang="lt-LT" sz="4800" dirty="0"/>
              <a:t> </a:t>
            </a:r>
            <a:r>
              <a:rPr lang="lt-LT" sz="4800" dirty="0" err="1"/>
              <a:t>and</a:t>
            </a:r>
            <a:r>
              <a:rPr lang="lt-LT" sz="4800" dirty="0"/>
              <a:t> </a:t>
            </a:r>
            <a:r>
              <a:rPr lang="lt-LT" sz="4800" dirty="0" err="1"/>
              <a:t>Qudits</a:t>
            </a:r>
            <a:r>
              <a:rPr lang="lt-LT" sz="4800" dirty="0"/>
              <a:t>. </a:t>
            </a:r>
            <a:r>
              <a:rPr lang="lt-LT" sz="4800" i="1" dirty="0" err="1"/>
              <a:t>Journal</a:t>
            </a:r>
            <a:r>
              <a:rPr lang="lt-LT" sz="4800" i="1" dirty="0"/>
              <a:t> </a:t>
            </a:r>
            <a:r>
              <a:rPr lang="lt-LT" sz="4800" i="1" dirty="0" err="1"/>
              <a:t>of</a:t>
            </a:r>
            <a:r>
              <a:rPr lang="lt-LT" sz="4800" i="1" dirty="0"/>
              <a:t> </a:t>
            </a:r>
            <a:r>
              <a:rPr lang="lt-LT" sz="4800" i="1" dirty="0" err="1"/>
              <a:t>the</a:t>
            </a:r>
            <a:r>
              <a:rPr lang="lt-LT" sz="4800" i="1" dirty="0"/>
              <a:t> American 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Society</a:t>
            </a:r>
            <a:r>
              <a:rPr lang="lt-LT" sz="4800" i="1" dirty="0"/>
              <a:t> </a:t>
            </a:r>
            <a:r>
              <a:rPr lang="lt-LT" sz="4800" b="1" dirty="0"/>
              <a:t>2021</a:t>
            </a:r>
            <a:r>
              <a:rPr lang="lt-LT" sz="4800" dirty="0"/>
              <a:t>, </a:t>
            </a:r>
            <a:r>
              <a:rPr lang="lt-LT" sz="4800" i="1" dirty="0"/>
              <a:t>143</a:t>
            </a:r>
            <a:r>
              <a:rPr lang="lt-LT" sz="4800" dirty="0"/>
              <a:t> (18), 7050-7058. DOI: 10.1021/jacs.1c01620.</a:t>
            </a:r>
          </a:p>
          <a:p>
            <a:pPr marL="0" indent="0">
              <a:buNone/>
            </a:pPr>
            <a:r>
              <a:rPr lang="lt-LT" sz="4800" dirty="0"/>
              <a:t>(6) </a:t>
            </a:r>
            <a:r>
              <a:rPr lang="lt-LT" sz="4800" dirty="0" err="1"/>
              <a:t>Mayländer</a:t>
            </a:r>
            <a:r>
              <a:rPr lang="lt-LT" sz="4800" dirty="0"/>
              <a:t>, M.; </a:t>
            </a:r>
            <a:r>
              <a:rPr lang="lt-LT" sz="4800" dirty="0" err="1"/>
              <a:t>Kopp</a:t>
            </a:r>
            <a:r>
              <a:rPr lang="lt-LT" sz="4800" dirty="0"/>
              <a:t>, </a:t>
            </a:r>
            <a:r>
              <a:rPr lang="lt-LT" sz="4800" dirty="0" err="1"/>
              <a:t>K</a:t>
            </a:r>
            <a:r>
              <a:rPr lang="lt-LT" sz="4800" dirty="0"/>
              <a:t>.; </a:t>
            </a:r>
            <a:r>
              <a:rPr lang="lt-LT" sz="4800" dirty="0" err="1"/>
              <a:t>Nolden</a:t>
            </a:r>
            <a:r>
              <a:rPr lang="lt-LT" sz="4800" dirty="0"/>
              <a:t>, O.; </a:t>
            </a:r>
            <a:r>
              <a:rPr lang="lt-LT" sz="4800" dirty="0" err="1"/>
              <a:t>Franz</a:t>
            </a:r>
            <a:r>
              <a:rPr lang="lt-LT" sz="4800" dirty="0"/>
              <a:t>, M.; </a:t>
            </a:r>
            <a:r>
              <a:rPr lang="lt-LT" sz="4800" dirty="0" err="1"/>
              <a:t>Thielert</a:t>
            </a:r>
            <a:r>
              <a:rPr lang="lt-LT" sz="4800" dirty="0"/>
              <a:t>, </a:t>
            </a:r>
            <a:r>
              <a:rPr lang="lt-LT" sz="4800" dirty="0" err="1"/>
              <a:t>P</a:t>
            </a:r>
            <a:r>
              <a:rPr lang="lt-LT" sz="4800" dirty="0"/>
              <a:t>.; Vargas </a:t>
            </a:r>
            <a:r>
              <a:rPr lang="lt-LT" sz="4800" dirty="0" err="1"/>
              <a:t>Jentzsch</a:t>
            </a:r>
            <a:r>
              <a:rPr lang="lt-LT" sz="4800" dirty="0"/>
              <a:t>, A.; </a:t>
            </a:r>
            <a:r>
              <a:rPr lang="lt-LT" sz="4800" dirty="0" err="1"/>
              <a:t>Gilch</a:t>
            </a:r>
            <a:r>
              <a:rPr lang="lt-LT" sz="4800" dirty="0"/>
              <a:t>, </a:t>
            </a:r>
            <a:r>
              <a:rPr lang="lt-LT" sz="4800" dirty="0" err="1"/>
              <a:t>P</a:t>
            </a:r>
            <a:r>
              <a:rPr lang="lt-LT" sz="4800" dirty="0"/>
              <a:t>.; </a:t>
            </a:r>
            <a:r>
              <a:rPr lang="lt-LT" sz="4800" dirty="0" err="1"/>
              <a:t>Schiemann</a:t>
            </a:r>
            <a:r>
              <a:rPr lang="lt-LT" sz="4800" dirty="0"/>
              <a:t>, O.; </a:t>
            </a:r>
            <a:r>
              <a:rPr lang="lt-LT" sz="4800" dirty="0" err="1"/>
              <a:t>Richert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 PDI–</a:t>
            </a:r>
            <a:r>
              <a:rPr lang="lt-LT" sz="4800" dirty="0" err="1"/>
              <a:t>trityl</a:t>
            </a:r>
            <a:r>
              <a:rPr lang="lt-LT" sz="4800" dirty="0"/>
              <a:t> </a:t>
            </a:r>
            <a:r>
              <a:rPr lang="lt-LT" sz="4800" dirty="0" err="1"/>
              <a:t>dyads</a:t>
            </a:r>
            <a:r>
              <a:rPr lang="lt-LT" sz="4800" dirty="0"/>
              <a:t> </a:t>
            </a:r>
            <a:r>
              <a:rPr lang="lt-LT" sz="4800" dirty="0" err="1"/>
              <a:t>as</a:t>
            </a:r>
            <a:r>
              <a:rPr lang="lt-LT" sz="4800" dirty="0"/>
              <a:t> </a:t>
            </a:r>
            <a:r>
              <a:rPr lang="lt-LT" sz="4800" dirty="0" err="1"/>
              <a:t>photogenerated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qubit</a:t>
            </a:r>
            <a:r>
              <a:rPr lang="lt-LT" sz="4800" dirty="0"/>
              <a:t> </a:t>
            </a:r>
            <a:r>
              <a:rPr lang="lt-LT" sz="4800" dirty="0" err="1"/>
              <a:t>candidates</a:t>
            </a:r>
            <a:r>
              <a:rPr lang="lt-LT" sz="4800" dirty="0"/>
              <a:t>. 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Science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14</a:t>
            </a:r>
            <a:r>
              <a:rPr lang="lt-LT" sz="4800" dirty="0"/>
              <a:t> (39), 10727-10735, 10.1039/D3SC04375D. DOI: 10.1039/D3SC04375D.</a:t>
            </a:r>
          </a:p>
          <a:p>
            <a:pPr marL="0" indent="0">
              <a:buNone/>
            </a:pPr>
            <a:r>
              <a:rPr lang="lt-LT" sz="4800" dirty="0"/>
              <a:t>(7) </a:t>
            </a:r>
            <a:r>
              <a:rPr lang="lt-LT" sz="4800" dirty="0" err="1"/>
              <a:t>Mayländer</a:t>
            </a:r>
            <a:r>
              <a:rPr lang="lt-LT" sz="4800" dirty="0"/>
              <a:t>, M.; </a:t>
            </a:r>
            <a:r>
              <a:rPr lang="lt-LT" sz="4800" dirty="0" err="1"/>
              <a:t>Nolden</a:t>
            </a:r>
            <a:r>
              <a:rPr lang="lt-LT" sz="4800" dirty="0"/>
              <a:t>, O.; </a:t>
            </a:r>
            <a:r>
              <a:rPr lang="lt-LT" sz="4800" dirty="0" err="1"/>
              <a:t>Franz</a:t>
            </a:r>
            <a:r>
              <a:rPr lang="lt-LT" sz="4800" dirty="0"/>
              <a:t>, M.; </a:t>
            </a:r>
            <a:r>
              <a:rPr lang="lt-LT" sz="4800" dirty="0" err="1"/>
              <a:t>Chen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.; </a:t>
            </a:r>
            <a:r>
              <a:rPr lang="lt-LT" sz="4800" dirty="0" err="1"/>
              <a:t>Bancroft</a:t>
            </a:r>
            <a:r>
              <a:rPr lang="lt-LT" sz="4800" dirty="0"/>
              <a:t>, L.; </a:t>
            </a:r>
            <a:r>
              <a:rPr lang="lt-LT" sz="4800" dirty="0" err="1"/>
              <a:t>Qiu</a:t>
            </a:r>
            <a:r>
              <a:rPr lang="lt-LT" sz="4800" dirty="0"/>
              <a:t>, Y.; </a:t>
            </a:r>
            <a:r>
              <a:rPr lang="lt-LT" sz="4800" dirty="0" err="1"/>
              <a:t>Wasielewski</a:t>
            </a:r>
            <a:r>
              <a:rPr lang="lt-LT" sz="4800" dirty="0"/>
              <a:t>, M. </a:t>
            </a:r>
            <a:r>
              <a:rPr lang="lt-LT" sz="4800" dirty="0" err="1"/>
              <a:t>R</a:t>
            </a:r>
            <a:r>
              <a:rPr lang="lt-LT" sz="4800" dirty="0"/>
              <a:t>.; </a:t>
            </a:r>
            <a:r>
              <a:rPr lang="lt-LT" sz="4800" dirty="0" err="1"/>
              <a:t>Gilch</a:t>
            </a:r>
            <a:r>
              <a:rPr lang="lt-LT" sz="4800" dirty="0"/>
              <a:t>, </a:t>
            </a:r>
            <a:r>
              <a:rPr lang="lt-LT" sz="4800" dirty="0" err="1"/>
              <a:t>P</a:t>
            </a:r>
            <a:r>
              <a:rPr lang="lt-LT" sz="4800" dirty="0"/>
              <a:t>.; </a:t>
            </a:r>
            <a:r>
              <a:rPr lang="lt-LT" sz="4800" dirty="0" err="1"/>
              <a:t>Richert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 </a:t>
            </a:r>
            <a:r>
              <a:rPr lang="lt-LT" sz="4800" dirty="0" err="1"/>
              <a:t>Accessing</a:t>
            </a:r>
            <a:r>
              <a:rPr lang="lt-LT" sz="4800" dirty="0"/>
              <a:t> </a:t>
            </a:r>
            <a:r>
              <a:rPr lang="lt-LT" sz="4800" dirty="0" err="1"/>
              <a:t>the</a:t>
            </a:r>
            <a:r>
              <a:rPr lang="lt-LT" sz="4800" dirty="0"/>
              <a:t> </a:t>
            </a:r>
            <a:r>
              <a:rPr lang="lt-LT" sz="4800" dirty="0" err="1"/>
              <a:t>triplet</a:t>
            </a:r>
            <a:r>
              <a:rPr lang="lt-LT" sz="4800" dirty="0"/>
              <a:t> </a:t>
            </a:r>
            <a:r>
              <a:rPr lang="lt-LT" sz="4800" dirty="0" err="1"/>
              <a:t>state</a:t>
            </a:r>
            <a:r>
              <a:rPr lang="lt-LT" sz="4800" dirty="0"/>
              <a:t> </a:t>
            </a:r>
            <a:r>
              <a:rPr lang="lt-LT" sz="4800" dirty="0" err="1"/>
              <a:t>of</a:t>
            </a:r>
            <a:r>
              <a:rPr lang="lt-LT" sz="4800" dirty="0"/>
              <a:t> </a:t>
            </a:r>
            <a:r>
              <a:rPr lang="lt-LT" sz="4800" dirty="0" err="1"/>
              <a:t>perylenediimide</a:t>
            </a:r>
            <a:r>
              <a:rPr lang="lt-LT" sz="4800" dirty="0"/>
              <a:t> </a:t>
            </a:r>
            <a:r>
              <a:rPr lang="lt-LT" sz="4800" dirty="0" err="1"/>
              <a:t>by</a:t>
            </a:r>
            <a:r>
              <a:rPr lang="lt-LT" sz="4800" dirty="0"/>
              <a:t> </a:t>
            </a:r>
            <a:r>
              <a:rPr lang="lt-LT" sz="4800" dirty="0" err="1"/>
              <a:t>radical-enhanced</a:t>
            </a:r>
            <a:r>
              <a:rPr lang="lt-LT" sz="4800" dirty="0"/>
              <a:t> </a:t>
            </a:r>
            <a:r>
              <a:rPr lang="lt-LT" sz="4800" dirty="0" err="1"/>
              <a:t>intersystem</a:t>
            </a:r>
            <a:r>
              <a:rPr lang="lt-LT" sz="4800" dirty="0"/>
              <a:t> </a:t>
            </a:r>
            <a:r>
              <a:rPr lang="lt-LT" sz="4800" dirty="0" err="1"/>
              <a:t>crossing</a:t>
            </a:r>
            <a:r>
              <a:rPr lang="lt-LT" sz="4800" dirty="0"/>
              <a:t>. 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Science</a:t>
            </a:r>
            <a:r>
              <a:rPr lang="lt-LT" sz="4800" i="1" dirty="0"/>
              <a:t> </a:t>
            </a:r>
            <a:r>
              <a:rPr lang="lt-LT" sz="4800" b="1" dirty="0"/>
              <a:t>2022</a:t>
            </a:r>
            <a:r>
              <a:rPr lang="lt-LT" sz="4800" dirty="0"/>
              <a:t>, </a:t>
            </a:r>
            <a:r>
              <a:rPr lang="lt-LT" sz="4800" i="1" dirty="0"/>
              <a:t>13</a:t>
            </a:r>
            <a:r>
              <a:rPr lang="lt-LT" sz="4800" dirty="0"/>
              <a:t> (22), 6732-6743, 10.1039/D2SC01899C. DOI: 10.1039/D2SC01899C.</a:t>
            </a:r>
          </a:p>
          <a:p>
            <a:pPr marL="0" indent="0">
              <a:buNone/>
            </a:pPr>
            <a:r>
              <a:rPr lang="lt-LT" sz="4800" dirty="0"/>
              <a:t>(8) </a:t>
            </a:r>
            <a:r>
              <a:rPr lang="lt-LT" sz="4800" dirty="0" err="1"/>
              <a:t>Mayländer</a:t>
            </a:r>
            <a:r>
              <a:rPr lang="lt-LT" sz="4800" dirty="0"/>
              <a:t>, M.; </a:t>
            </a:r>
            <a:r>
              <a:rPr lang="lt-LT" sz="4800" dirty="0" err="1"/>
              <a:t>Thielert</a:t>
            </a:r>
            <a:r>
              <a:rPr lang="lt-LT" sz="4800" dirty="0"/>
              <a:t>, </a:t>
            </a:r>
            <a:r>
              <a:rPr lang="lt-LT" sz="4800" dirty="0" err="1"/>
              <a:t>P</a:t>
            </a:r>
            <a:r>
              <a:rPr lang="lt-LT" sz="4800" dirty="0"/>
              <a:t>.; </a:t>
            </a:r>
            <a:r>
              <a:rPr lang="lt-LT" sz="4800" dirty="0" err="1"/>
              <a:t>Quintes</a:t>
            </a:r>
            <a:r>
              <a:rPr lang="lt-LT" sz="4800" dirty="0"/>
              <a:t>, </a:t>
            </a:r>
            <a:r>
              <a:rPr lang="lt-LT" sz="4800" dirty="0" err="1"/>
              <a:t>T</a:t>
            </a:r>
            <a:r>
              <a:rPr lang="lt-LT" sz="4800" dirty="0"/>
              <a:t>.; Vargas </a:t>
            </a:r>
            <a:r>
              <a:rPr lang="lt-LT" sz="4800" dirty="0" err="1"/>
              <a:t>Jentzsch</a:t>
            </a:r>
            <a:r>
              <a:rPr lang="lt-LT" sz="4800" dirty="0"/>
              <a:t>, A.; </a:t>
            </a:r>
            <a:r>
              <a:rPr lang="lt-LT" sz="4800" dirty="0" err="1"/>
              <a:t>Richert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 </a:t>
            </a:r>
            <a:r>
              <a:rPr lang="lt-LT" sz="4800" dirty="0" err="1"/>
              <a:t>Room</a:t>
            </a:r>
            <a:r>
              <a:rPr lang="lt-LT" sz="4800" dirty="0"/>
              <a:t> </a:t>
            </a:r>
            <a:r>
              <a:rPr lang="lt-LT" sz="4800" dirty="0" err="1"/>
              <a:t>Temperature</a:t>
            </a:r>
            <a:r>
              <a:rPr lang="lt-LT" sz="4800" dirty="0"/>
              <a:t> </a:t>
            </a:r>
            <a:r>
              <a:rPr lang="lt-LT" sz="4800" dirty="0" err="1"/>
              <a:t>Electron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Coherence</a:t>
            </a:r>
            <a:r>
              <a:rPr lang="lt-LT" sz="4800" dirty="0"/>
              <a:t> </a:t>
            </a:r>
            <a:r>
              <a:rPr lang="lt-LT" sz="4800" dirty="0" err="1"/>
              <a:t>in</a:t>
            </a:r>
            <a:r>
              <a:rPr lang="lt-LT" sz="4800" dirty="0"/>
              <a:t> </a:t>
            </a:r>
            <a:r>
              <a:rPr lang="lt-LT" sz="4800" dirty="0" err="1"/>
              <a:t>Photogenerated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Qubit</a:t>
            </a:r>
            <a:r>
              <a:rPr lang="lt-LT" sz="4800" dirty="0"/>
              <a:t> </a:t>
            </a:r>
            <a:r>
              <a:rPr lang="lt-LT" sz="4800" dirty="0" err="1"/>
              <a:t>Candidates</a:t>
            </a:r>
            <a:r>
              <a:rPr lang="lt-LT" sz="4800" dirty="0"/>
              <a:t>. </a:t>
            </a:r>
            <a:r>
              <a:rPr lang="lt-LT" sz="4800" i="1" dirty="0" err="1"/>
              <a:t>Journal</a:t>
            </a:r>
            <a:r>
              <a:rPr lang="lt-LT" sz="4800" i="1" dirty="0"/>
              <a:t> </a:t>
            </a:r>
            <a:r>
              <a:rPr lang="lt-LT" sz="4800" i="1" dirty="0" err="1"/>
              <a:t>of</a:t>
            </a:r>
            <a:r>
              <a:rPr lang="lt-LT" sz="4800" i="1" dirty="0"/>
              <a:t> </a:t>
            </a:r>
            <a:r>
              <a:rPr lang="lt-LT" sz="4800" i="1" dirty="0" err="1"/>
              <a:t>the</a:t>
            </a:r>
            <a:r>
              <a:rPr lang="lt-LT" sz="4800" i="1" dirty="0"/>
              <a:t> American 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Society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145</a:t>
            </a:r>
            <a:r>
              <a:rPr lang="lt-LT" sz="4800" dirty="0"/>
              <a:t> (25), 14064-14069. DOI: 10.1021/jacs.3c04021.</a:t>
            </a:r>
          </a:p>
          <a:p>
            <a:pPr marL="0" indent="0">
              <a:buNone/>
            </a:pPr>
            <a:r>
              <a:rPr lang="lt-LT" sz="4800" dirty="0"/>
              <a:t>(9) </a:t>
            </a:r>
            <a:r>
              <a:rPr lang="lt-LT" sz="4800" dirty="0" err="1"/>
              <a:t>McNamara</a:t>
            </a:r>
            <a:r>
              <a:rPr lang="lt-LT" sz="4800" dirty="0"/>
              <a:t>, L. E.; </a:t>
            </a:r>
            <a:r>
              <a:rPr lang="lt-LT" sz="4800" dirty="0" err="1"/>
              <a:t>Zhou</a:t>
            </a:r>
            <a:r>
              <a:rPr lang="lt-LT" sz="4800" dirty="0"/>
              <a:t>, A.; </a:t>
            </a:r>
            <a:r>
              <a:rPr lang="lt-LT" sz="4800" dirty="0" err="1"/>
              <a:t>Rajh</a:t>
            </a:r>
            <a:r>
              <a:rPr lang="lt-LT" sz="4800" dirty="0"/>
              <a:t>, </a:t>
            </a:r>
            <a:r>
              <a:rPr lang="lt-LT" sz="4800" dirty="0" err="1"/>
              <a:t>T</a:t>
            </a:r>
            <a:r>
              <a:rPr lang="lt-LT" sz="4800" dirty="0"/>
              <a:t>.; </a:t>
            </a:r>
            <a:r>
              <a:rPr lang="lt-LT" sz="4800" dirty="0" err="1"/>
              <a:t>Sun</a:t>
            </a:r>
            <a:r>
              <a:rPr lang="lt-LT" sz="4800" dirty="0"/>
              <a:t>, L.; </a:t>
            </a:r>
            <a:r>
              <a:rPr lang="lt-LT" sz="4800" dirty="0" err="1"/>
              <a:t>Anderson</a:t>
            </a:r>
            <a:r>
              <a:rPr lang="lt-LT" sz="4800" dirty="0"/>
              <a:t>, </a:t>
            </a:r>
            <a:r>
              <a:rPr lang="lt-LT" sz="4800" dirty="0" err="1"/>
              <a:t>J</a:t>
            </a:r>
            <a:r>
              <a:rPr lang="lt-LT" sz="4800" dirty="0"/>
              <a:t>. </a:t>
            </a:r>
            <a:r>
              <a:rPr lang="lt-LT" sz="4800" dirty="0" err="1"/>
              <a:t>S</a:t>
            </a:r>
            <a:r>
              <a:rPr lang="lt-LT" sz="4800" dirty="0"/>
              <a:t>. </a:t>
            </a:r>
            <a:r>
              <a:rPr lang="lt-LT" sz="4800" dirty="0" err="1"/>
              <a:t>Realizing</a:t>
            </a:r>
            <a:r>
              <a:rPr lang="lt-LT" sz="4800" dirty="0"/>
              <a:t> </a:t>
            </a:r>
            <a:r>
              <a:rPr lang="lt-LT" sz="4800" dirty="0" err="1"/>
              <a:t>solution-phase</a:t>
            </a:r>
            <a:r>
              <a:rPr lang="lt-LT" sz="4800" dirty="0"/>
              <a:t> </a:t>
            </a:r>
            <a:r>
              <a:rPr lang="lt-LT" sz="4800" dirty="0" err="1"/>
              <a:t>room</a:t>
            </a:r>
            <a:r>
              <a:rPr lang="lt-LT" sz="4800" dirty="0"/>
              <a:t> </a:t>
            </a:r>
            <a:r>
              <a:rPr lang="lt-LT" sz="4800" dirty="0" err="1"/>
              <a:t>temperature</a:t>
            </a:r>
            <a:r>
              <a:rPr lang="lt-LT" sz="4800" dirty="0"/>
              <a:t> </a:t>
            </a:r>
            <a:r>
              <a:rPr lang="lt-LT" sz="4800" dirty="0" err="1"/>
              <a:t>quantum</a:t>
            </a:r>
            <a:r>
              <a:rPr lang="lt-LT" sz="4800" dirty="0"/>
              <a:t> </a:t>
            </a:r>
            <a:r>
              <a:rPr lang="lt-LT" sz="4800" dirty="0" err="1"/>
              <a:t>coherence</a:t>
            </a:r>
            <a:r>
              <a:rPr lang="lt-LT" sz="4800" dirty="0"/>
              <a:t> </a:t>
            </a:r>
            <a:r>
              <a:rPr lang="lt-LT" sz="4800" dirty="0" err="1"/>
              <a:t>in</a:t>
            </a:r>
            <a:r>
              <a:rPr lang="lt-LT" sz="4800" dirty="0"/>
              <a:t> a </a:t>
            </a:r>
            <a:r>
              <a:rPr lang="lt-LT" sz="4800" dirty="0" err="1"/>
              <a:t>tetrathiafulvalene-based</a:t>
            </a:r>
            <a:r>
              <a:rPr lang="lt-LT" sz="4800" dirty="0"/>
              <a:t> </a:t>
            </a:r>
            <a:r>
              <a:rPr lang="lt-LT" sz="4800" dirty="0" err="1"/>
              <a:t>diradicaloid</a:t>
            </a:r>
            <a:r>
              <a:rPr lang="lt-LT" sz="4800" dirty="0"/>
              <a:t> </a:t>
            </a:r>
            <a:r>
              <a:rPr lang="lt-LT" sz="4800" dirty="0" err="1"/>
              <a:t>complex</a:t>
            </a:r>
            <a:r>
              <a:rPr lang="lt-LT" sz="4800" dirty="0"/>
              <a:t>. </a:t>
            </a:r>
            <a:r>
              <a:rPr lang="lt-LT" sz="4800" i="1" dirty="0" err="1"/>
              <a:t>Cell</a:t>
            </a:r>
            <a:r>
              <a:rPr lang="lt-LT" sz="4800" i="1" dirty="0"/>
              <a:t> </a:t>
            </a:r>
            <a:r>
              <a:rPr lang="lt-LT" sz="4800" i="1" dirty="0" err="1"/>
              <a:t>Reports</a:t>
            </a:r>
            <a:r>
              <a:rPr lang="lt-LT" sz="4800" i="1" dirty="0"/>
              <a:t> </a:t>
            </a:r>
            <a:r>
              <a:rPr lang="lt-LT" sz="4800" i="1" dirty="0" err="1"/>
              <a:t>Physical</a:t>
            </a:r>
            <a:r>
              <a:rPr lang="lt-LT" sz="4800" i="1" dirty="0"/>
              <a:t> </a:t>
            </a:r>
            <a:r>
              <a:rPr lang="lt-LT" sz="4800" i="1" dirty="0" err="1"/>
              <a:t>Science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4</a:t>
            </a:r>
            <a:r>
              <a:rPr lang="lt-LT" sz="4800" dirty="0"/>
              <a:t> (12), 101693. DOI: https://</a:t>
            </a:r>
            <a:r>
              <a:rPr lang="lt-LT" sz="4800" dirty="0" err="1"/>
              <a:t>doi.org</a:t>
            </a:r>
            <a:r>
              <a:rPr lang="lt-LT" sz="4800" dirty="0"/>
              <a:t>/10.1016/j.xcrp.2023.101693.</a:t>
            </a:r>
          </a:p>
          <a:p>
            <a:pPr marL="0" indent="0">
              <a:buNone/>
            </a:pPr>
            <a:r>
              <a:rPr lang="lt-LT" sz="4800" dirty="0"/>
              <a:t>(10) </a:t>
            </a:r>
            <a:r>
              <a:rPr lang="lt-LT" sz="4800" dirty="0" err="1"/>
              <a:t>Oanta</a:t>
            </a:r>
            <a:r>
              <a:rPr lang="lt-LT" sz="4800" dirty="0"/>
              <a:t>, A. </a:t>
            </a:r>
            <a:r>
              <a:rPr lang="lt-LT" sz="4800" dirty="0" err="1"/>
              <a:t>K</a:t>
            </a:r>
            <a:r>
              <a:rPr lang="lt-LT" sz="4800" dirty="0"/>
              <a:t>.; </a:t>
            </a:r>
            <a:r>
              <a:rPr lang="lt-LT" sz="4800" dirty="0" err="1"/>
              <a:t>Collins</a:t>
            </a:r>
            <a:r>
              <a:rPr lang="lt-LT" sz="4800" dirty="0"/>
              <a:t>, </a:t>
            </a:r>
            <a:r>
              <a:rPr lang="lt-LT" sz="4800" dirty="0" err="1"/>
              <a:t>K</a:t>
            </a:r>
            <a:r>
              <a:rPr lang="lt-LT" sz="4800" dirty="0"/>
              <a:t>. A.; </a:t>
            </a:r>
            <a:r>
              <a:rPr lang="lt-LT" sz="4800" dirty="0" err="1"/>
              <a:t>Evans</a:t>
            </a:r>
            <a:r>
              <a:rPr lang="lt-LT" sz="4800" dirty="0"/>
              <a:t>, A. M.; Pratik, </a:t>
            </a:r>
            <a:r>
              <a:rPr lang="lt-LT" sz="4800" dirty="0" err="1"/>
              <a:t>S</a:t>
            </a:r>
            <a:r>
              <a:rPr lang="lt-LT" sz="4800" dirty="0"/>
              <a:t>. M.; </a:t>
            </a:r>
            <a:r>
              <a:rPr lang="lt-LT" sz="4800" dirty="0" err="1"/>
              <a:t>Hall</a:t>
            </a:r>
            <a:r>
              <a:rPr lang="lt-LT" sz="4800" dirty="0"/>
              <a:t>, L. A.; </a:t>
            </a:r>
            <a:r>
              <a:rPr lang="lt-LT" sz="4800" dirty="0" err="1"/>
              <a:t>Strauss</a:t>
            </a:r>
            <a:r>
              <a:rPr lang="lt-LT" sz="4800" dirty="0"/>
              <a:t>, M. </a:t>
            </a:r>
            <a:r>
              <a:rPr lang="lt-LT" sz="4800" dirty="0" err="1"/>
              <a:t>J</a:t>
            </a:r>
            <a:r>
              <a:rPr lang="lt-LT" sz="4800" dirty="0"/>
              <a:t>.; </a:t>
            </a:r>
            <a:r>
              <a:rPr lang="lt-LT" sz="4800" dirty="0" err="1"/>
              <a:t>Marder</a:t>
            </a:r>
            <a:r>
              <a:rPr lang="lt-LT" sz="4800" dirty="0"/>
              <a:t>, </a:t>
            </a:r>
            <a:r>
              <a:rPr lang="lt-LT" sz="4800" dirty="0" err="1"/>
              <a:t>S</a:t>
            </a:r>
            <a:r>
              <a:rPr lang="lt-LT" sz="4800" dirty="0"/>
              <a:t>. </a:t>
            </a:r>
            <a:r>
              <a:rPr lang="lt-LT" sz="4800" dirty="0" err="1"/>
              <a:t>R</a:t>
            </a:r>
            <a:r>
              <a:rPr lang="lt-LT" sz="4800" dirty="0"/>
              <a:t>.; </a:t>
            </a:r>
            <a:r>
              <a:rPr lang="lt-LT" sz="4800" dirty="0" err="1"/>
              <a:t>D’Alessandro</a:t>
            </a:r>
            <a:r>
              <a:rPr lang="lt-LT" sz="4800" dirty="0"/>
              <a:t>, D. M.; </a:t>
            </a:r>
            <a:r>
              <a:rPr lang="lt-LT" sz="4800" dirty="0" err="1"/>
              <a:t>Rajh</a:t>
            </a:r>
            <a:r>
              <a:rPr lang="lt-LT" sz="4800" dirty="0"/>
              <a:t>, </a:t>
            </a:r>
            <a:r>
              <a:rPr lang="lt-LT" sz="4800" dirty="0" err="1"/>
              <a:t>T</a:t>
            </a:r>
            <a:r>
              <a:rPr lang="lt-LT" sz="4800" dirty="0"/>
              <a:t>.; </a:t>
            </a:r>
            <a:r>
              <a:rPr lang="lt-LT" sz="4800" dirty="0" err="1"/>
              <a:t>Freedman</a:t>
            </a:r>
            <a:r>
              <a:rPr lang="lt-LT" sz="4800" dirty="0"/>
              <a:t>, D. E.; et al. </a:t>
            </a:r>
            <a:r>
              <a:rPr lang="lt-LT" sz="4800" dirty="0" err="1"/>
              <a:t>Electronic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Qubit</a:t>
            </a:r>
            <a:r>
              <a:rPr lang="lt-LT" sz="4800" dirty="0"/>
              <a:t> </a:t>
            </a:r>
            <a:r>
              <a:rPr lang="lt-LT" sz="4800" dirty="0" err="1"/>
              <a:t>Candidates</a:t>
            </a:r>
            <a:r>
              <a:rPr lang="lt-LT" sz="4800" dirty="0"/>
              <a:t> </a:t>
            </a:r>
            <a:r>
              <a:rPr lang="lt-LT" sz="4800" dirty="0" err="1"/>
              <a:t>Arrayed</a:t>
            </a:r>
            <a:r>
              <a:rPr lang="lt-LT" sz="4800" dirty="0"/>
              <a:t> </a:t>
            </a:r>
            <a:r>
              <a:rPr lang="lt-LT" sz="4800" dirty="0" err="1"/>
              <a:t>within</a:t>
            </a:r>
            <a:r>
              <a:rPr lang="lt-LT" sz="4800" dirty="0"/>
              <a:t> </a:t>
            </a:r>
            <a:r>
              <a:rPr lang="lt-LT" sz="4800" dirty="0" err="1"/>
              <a:t>Layered</a:t>
            </a:r>
            <a:r>
              <a:rPr lang="lt-LT" sz="4800" dirty="0"/>
              <a:t> </a:t>
            </a:r>
            <a:r>
              <a:rPr lang="lt-LT" sz="4800" dirty="0" err="1"/>
              <a:t>Two-Dimensional</a:t>
            </a:r>
            <a:r>
              <a:rPr lang="lt-LT" sz="4800" dirty="0"/>
              <a:t> </a:t>
            </a:r>
            <a:r>
              <a:rPr lang="lt-LT" sz="4800" dirty="0" err="1"/>
              <a:t>Polymers</a:t>
            </a:r>
            <a:r>
              <a:rPr lang="lt-LT" sz="4800" dirty="0"/>
              <a:t>. </a:t>
            </a:r>
            <a:r>
              <a:rPr lang="lt-LT" sz="4800" i="1" dirty="0" err="1"/>
              <a:t>Journal</a:t>
            </a:r>
            <a:r>
              <a:rPr lang="lt-LT" sz="4800" i="1" dirty="0"/>
              <a:t> </a:t>
            </a:r>
            <a:r>
              <a:rPr lang="lt-LT" sz="4800" i="1" dirty="0" err="1"/>
              <a:t>of</a:t>
            </a:r>
            <a:r>
              <a:rPr lang="lt-LT" sz="4800" i="1" dirty="0"/>
              <a:t> </a:t>
            </a:r>
            <a:r>
              <a:rPr lang="lt-LT" sz="4800" i="1" dirty="0" err="1"/>
              <a:t>the</a:t>
            </a:r>
            <a:r>
              <a:rPr lang="lt-LT" sz="4800" i="1" dirty="0"/>
              <a:t> American 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Society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145</a:t>
            </a:r>
            <a:r>
              <a:rPr lang="lt-LT" sz="4800" dirty="0"/>
              <a:t> (1), 689-696. DOI: 10.1021/jacs.2c11784.</a:t>
            </a:r>
          </a:p>
          <a:p>
            <a:pPr marL="0" indent="0">
              <a:buNone/>
            </a:pPr>
            <a:r>
              <a:rPr lang="lt-LT" sz="4800" dirty="0"/>
              <a:t>(11) </a:t>
            </a:r>
            <a:r>
              <a:rPr lang="lt-LT" sz="4800" dirty="0" err="1"/>
              <a:t>Qiu</a:t>
            </a:r>
            <a:r>
              <a:rPr lang="lt-LT" sz="4800" dirty="0"/>
              <a:t>, Y.; </a:t>
            </a:r>
            <a:r>
              <a:rPr lang="lt-LT" sz="4800" dirty="0" err="1"/>
              <a:t>Equbal</a:t>
            </a:r>
            <a:r>
              <a:rPr lang="lt-LT" sz="4800" dirty="0"/>
              <a:t>, A.; </a:t>
            </a:r>
            <a:r>
              <a:rPr lang="lt-LT" sz="4800" dirty="0" err="1"/>
              <a:t>Lin</a:t>
            </a:r>
            <a:r>
              <a:rPr lang="lt-LT" sz="4800" dirty="0"/>
              <a:t>, C.; </a:t>
            </a:r>
            <a:r>
              <a:rPr lang="lt-LT" sz="4800" dirty="0" err="1"/>
              <a:t>Huang</a:t>
            </a:r>
            <a:r>
              <a:rPr lang="lt-LT" sz="4800" dirty="0"/>
              <a:t>, Y.; </a:t>
            </a:r>
            <a:r>
              <a:rPr lang="lt-LT" sz="4800" dirty="0" err="1"/>
              <a:t>Brown</a:t>
            </a:r>
            <a:r>
              <a:rPr lang="lt-LT" sz="4800" dirty="0"/>
              <a:t>, </a:t>
            </a:r>
            <a:r>
              <a:rPr lang="lt-LT" sz="4800" dirty="0" err="1"/>
              <a:t>P</a:t>
            </a:r>
            <a:r>
              <a:rPr lang="lt-LT" sz="4800" dirty="0"/>
              <a:t>. </a:t>
            </a:r>
            <a:r>
              <a:rPr lang="lt-LT" sz="4800" dirty="0" err="1"/>
              <a:t>J</a:t>
            </a:r>
            <a:r>
              <a:rPr lang="lt-LT" sz="4800" dirty="0"/>
              <a:t>.; Young, </a:t>
            </a:r>
            <a:r>
              <a:rPr lang="lt-LT" sz="4800" dirty="0" err="1"/>
              <a:t>R</a:t>
            </a:r>
            <a:r>
              <a:rPr lang="lt-LT" sz="4800" dirty="0"/>
              <a:t>. M.; </a:t>
            </a:r>
            <a:r>
              <a:rPr lang="lt-LT" sz="4800" dirty="0" err="1"/>
              <a:t>Krzyaniak</a:t>
            </a:r>
            <a:r>
              <a:rPr lang="lt-LT" sz="4800" dirty="0"/>
              <a:t>, M. D.; </a:t>
            </a:r>
            <a:r>
              <a:rPr lang="lt-LT" sz="4800" dirty="0" err="1"/>
              <a:t>Wasielewski</a:t>
            </a:r>
            <a:r>
              <a:rPr lang="lt-LT" sz="4800" dirty="0"/>
              <a:t>, M. </a:t>
            </a:r>
            <a:r>
              <a:rPr lang="lt-LT" sz="4800" dirty="0" err="1"/>
              <a:t>R</a:t>
            </a:r>
            <a:r>
              <a:rPr lang="lt-LT" sz="4800" dirty="0"/>
              <a:t>. </a:t>
            </a:r>
            <a:r>
              <a:rPr lang="lt-LT" sz="4800" dirty="0" err="1"/>
              <a:t>Optical</a:t>
            </a:r>
            <a:r>
              <a:rPr lang="lt-LT" sz="4800" dirty="0"/>
              <a:t> </a:t>
            </a:r>
            <a:r>
              <a:rPr lang="lt-LT" sz="4800" dirty="0" err="1"/>
              <a:t>Spin</a:t>
            </a:r>
            <a:r>
              <a:rPr lang="lt-LT" sz="4800" dirty="0"/>
              <a:t> </a:t>
            </a:r>
            <a:r>
              <a:rPr lang="lt-LT" sz="4800" dirty="0" err="1"/>
              <a:t>Polarization</a:t>
            </a:r>
            <a:r>
              <a:rPr lang="lt-LT" sz="4800" dirty="0"/>
              <a:t> </a:t>
            </a:r>
            <a:r>
              <a:rPr lang="lt-LT" sz="4800" dirty="0" err="1"/>
              <a:t>of</a:t>
            </a:r>
            <a:r>
              <a:rPr lang="lt-LT" sz="4800" dirty="0"/>
              <a:t> a </a:t>
            </a:r>
            <a:r>
              <a:rPr lang="lt-LT" sz="4800" dirty="0" err="1"/>
              <a:t>Narrow-Linewidth</a:t>
            </a:r>
            <a:r>
              <a:rPr lang="lt-LT" sz="4800" dirty="0"/>
              <a:t> </a:t>
            </a:r>
            <a:r>
              <a:rPr lang="lt-LT" sz="4800" dirty="0" err="1"/>
              <a:t>Electron-Spin</a:t>
            </a:r>
            <a:r>
              <a:rPr lang="lt-LT" sz="4800" dirty="0"/>
              <a:t> </a:t>
            </a:r>
            <a:r>
              <a:rPr lang="lt-LT" sz="4800" dirty="0" err="1"/>
              <a:t>Qubit</a:t>
            </a:r>
            <a:r>
              <a:rPr lang="lt-LT" sz="4800" dirty="0"/>
              <a:t> </a:t>
            </a:r>
            <a:r>
              <a:rPr lang="lt-LT" sz="4800" dirty="0" err="1"/>
              <a:t>in</a:t>
            </a:r>
            <a:r>
              <a:rPr lang="lt-LT" sz="4800" dirty="0"/>
              <a:t> a </a:t>
            </a:r>
            <a:r>
              <a:rPr lang="lt-LT" sz="4800" dirty="0" err="1"/>
              <a:t>Chromophore</a:t>
            </a:r>
            <a:r>
              <a:rPr lang="lt-LT" sz="4800" dirty="0"/>
              <a:t>/</a:t>
            </a:r>
            <a:r>
              <a:rPr lang="lt-LT" sz="4800" dirty="0" err="1"/>
              <a:t>Stable-Radical</a:t>
            </a:r>
            <a:r>
              <a:rPr lang="lt-LT" sz="4800" dirty="0"/>
              <a:t> System. </a:t>
            </a:r>
            <a:r>
              <a:rPr lang="lt-LT" sz="4800" i="1" dirty="0" err="1"/>
              <a:t>Angewandte</a:t>
            </a:r>
            <a:r>
              <a:rPr lang="lt-LT" sz="4800" i="1" dirty="0"/>
              <a:t> </a:t>
            </a:r>
            <a:r>
              <a:rPr lang="lt-LT" sz="4800" i="1" dirty="0" err="1"/>
              <a:t>Chemie</a:t>
            </a:r>
            <a:r>
              <a:rPr lang="lt-LT" sz="4800" i="1" dirty="0"/>
              <a:t> International Edition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62</a:t>
            </a:r>
            <a:r>
              <a:rPr lang="lt-LT" sz="4800" dirty="0"/>
              <a:t> (6), e202214668. DOI: https://</a:t>
            </a:r>
            <a:r>
              <a:rPr lang="lt-LT" sz="4800" dirty="0" err="1"/>
              <a:t>doi.org</a:t>
            </a:r>
            <a:r>
              <a:rPr lang="lt-LT" sz="4800" dirty="0"/>
              <a:t>/10.1002/anie.202214668 (</a:t>
            </a:r>
            <a:r>
              <a:rPr lang="lt-LT" sz="4800" dirty="0" err="1"/>
              <a:t>accessed</a:t>
            </a:r>
            <a:r>
              <a:rPr lang="lt-LT" sz="4800" dirty="0"/>
              <a:t> 2025/10/08).</a:t>
            </a:r>
          </a:p>
          <a:p>
            <a:pPr marL="0" indent="0">
              <a:buNone/>
            </a:pPr>
            <a:r>
              <a:rPr lang="lt-LT" sz="4800" dirty="0"/>
              <a:t>(12) </a:t>
            </a:r>
            <a:r>
              <a:rPr lang="lt-LT" sz="4800" dirty="0" err="1"/>
              <a:t>Shu</a:t>
            </a:r>
            <a:r>
              <a:rPr lang="lt-LT" sz="4800" dirty="0"/>
              <a:t>, C.; </a:t>
            </a:r>
            <a:r>
              <a:rPr lang="lt-LT" sz="4800" dirty="0" err="1"/>
              <a:t>Yang</a:t>
            </a:r>
            <a:r>
              <a:rPr lang="lt-LT" sz="4800" dirty="0"/>
              <a:t>, </a:t>
            </a:r>
            <a:r>
              <a:rPr lang="lt-LT" sz="4800" dirty="0" err="1"/>
              <a:t>Z</a:t>
            </a:r>
            <a:r>
              <a:rPr lang="lt-LT" sz="4800" dirty="0"/>
              <a:t>.; </a:t>
            </a:r>
            <a:r>
              <a:rPr lang="lt-LT" sz="4800" dirty="0" err="1"/>
              <a:t>Rajca</a:t>
            </a:r>
            <a:r>
              <a:rPr lang="lt-LT" sz="4800" dirty="0"/>
              <a:t>, A. </a:t>
            </a:r>
            <a:r>
              <a:rPr lang="lt-LT" sz="4800" dirty="0" err="1"/>
              <a:t>From</a:t>
            </a:r>
            <a:r>
              <a:rPr lang="lt-LT" sz="4800" dirty="0"/>
              <a:t> </a:t>
            </a:r>
            <a:r>
              <a:rPr lang="lt-LT" sz="4800" dirty="0" err="1"/>
              <a:t>Stable</a:t>
            </a:r>
            <a:r>
              <a:rPr lang="lt-LT" sz="4800" dirty="0"/>
              <a:t> </a:t>
            </a:r>
            <a:r>
              <a:rPr lang="lt-LT" sz="4800" dirty="0" err="1"/>
              <a:t>Radicals</a:t>
            </a:r>
            <a:r>
              <a:rPr lang="lt-LT" sz="4800" dirty="0"/>
              <a:t> to </a:t>
            </a:r>
            <a:r>
              <a:rPr lang="lt-LT" sz="4800" dirty="0" err="1"/>
              <a:t>Thermally</a:t>
            </a:r>
            <a:r>
              <a:rPr lang="lt-LT" sz="4800" dirty="0"/>
              <a:t> </a:t>
            </a:r>
            <a:r>
              <a:rPr lang="lt-LT" sz="4800" dirty="0" err="1"/>
              <a:t>Robust</a:t>
            </a:r>
            <a:r>
              <a:rPr lang="lt-LT" sz="4800" dirty="0"/>
              <a:t> </a:t>
            </a:r>
            <a:r>
              <a:rPr lang="lt-LT" sz="4800" dirty="0" err="1"/>
              <a:t>High-Spin</a:t>
            </a:r>
            <a:r>
              <a:rPr lang="lt-LT" sz="4800" dirty="0"/>
              <a:t> </a:t>
            </a:r>
            <a:r>
              <a:rPr lang="lt-LT" sz="4800" dirty="0" err="1"/>
              <a:t>Diradicals</a:t>
            </a:r>
            <a:r>
              <a:rPr lang="lt-LT" sz="4800" dirty="0"/>
              <a:t> </a:t>
            </a:r>
            <a:r>
              <a:rPr lang="lt-LT" sz="4800" dirty="0" err="1"/>
              <a:t>and</a:t>
            </a:r>
            <a:r>
              <a:rPr lang="lt-LT" sz="4800" dirty="0"/>
              <a:t> </a:t>
            </a:r>
            <a:r>
              <a:rPr lang="lt-LT" sz="4800" dirty="0" err="1"/>
              <a:t>Triradicals</a:t>
            </a:r>
            <a:r>
              <a:rPr lang="lt-LT" sz="4800" dirty="0"/>
              <a:t>. 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Reviews</a:t>
            </a:r>
            <a:r>
              <a:rPr lang="lt-LT" sz="4800" i="1" dirty="0"/>
              <a:t> </a:t>
            </a:r>
            <a:r>
              <a:rPr lang="lt-LT" sz="4800" b="1" dirty="0"/>
              <a:t>2023</a:t>
            </a:r>
            <a:r>
              <a:rPr lang="lt-LT" sz="4800" dirty="0"/>
              <a:t>, </a:t>
            </a:r>
            <a:r>
              <a:rPr lang="lt-LT" sz="4800" i="1" dirty="0"/>
              <a:t>123</a:t>
            </a:r>
            <a:r>
              <a:rPr lang="lt-LT" sz="4800" dirty="0"/>
              <a:t> (20), 11954-12003. DOI: 10.1021/acs.chemrev.3c00406.</a:t>
            </a:r>
          </a:p>
          <a:p>
            <a:pPr marL="0" indent="0">
              <a:buNone/>
            </a:pPr>
            <a:r>
              <a:rPr lang="lt-LT" sz="4800" dirty="0"/>
              <a:t>(13) </a:t>
            </a:r>
            <a:r>
              <a:rPr lang="lt-LT" sz="4800" dirty="0" err="1"/>
              <a:t>Weidman</a:t>
            </a:r>
            <a:r>
              <a:rPr lang="lt-LT" sz="4800" dirty="0"/>
              <a:t>, </a:t>
            </a:r>
            <a:r>
              <a:rPr lang="lt-LT" sz="4800" dirty="0" err="1"/>
              <a:t>J</a:t>
            </a:r>
            <a:r>
              <a:rPr lang="lt-LT" sz="4800" dirty="0"/>
              <a:t>. D.; </a:t>
            </a:r>
            <a:r>
              <a:rPr lang="lt-LT" sz="4800" dirty="0" err="1"/>
              <a:t>Sajjan</a:t>
            </a:r>
            <a:r>
              <a:rPr lang="lt-LT" sz="4800" dirty="0"/>
              <a:t>, M.; </a:t>
            </a:r>
            <a:r>
              <a:rPr lang="lt-LT" sz="4800" dirty="0" err="1"/>
              <a:t>Mikolas</a:t>
            </a:r>
            <a:r>
              <a:rPr lang="lt-LT" sz="4800" dirty="0"/>
              <a:t>, C.; </a:t>
            </a:r>
            <a:r>
              <a:rPr lang="lt-LT" sz="4800" dirty="0" err="1"/>
              <a:t>Stewart</a:t>
            </a:r>
            <a:r>
              <a:rPr lang="lt-LT" sz="4800" dirty="0"/>
              <a:t>, </a:t>
            </a:r>
            <a:r>
              <a:rPr lang="lt-LT" sz="4800" dirty="0" err="1"/>
              <a:t>Z</a:t>
            </a:r>
            <a:r>
              <a:rPr lang="lt-LT" sz="4800" dirty="0"/>
              <a:t>. </a:t>
            </a:r>
            <a:r>
              <a:rPr lang="lt-LT" sz="4800" dirty="0" err="1"/>
              <a:t>J</a:t>
            </a:r>
            <a:r>
              <a:rPr lang="lt-LT" sz="4800" dirty="0"/>
              <a:t>.; </a:t>
            </a:r>
            <a:r>
              <a:rPr lang="lt-LT" sz="4800" dirty="0" err="1"/>
              <a:t>Pollanen</a:t>
            </a:r>
            <a:r>
              <a:rPr lang="lt-LT" sz="4800" dirty="0"/>
              <a:t>, </a:t>
            </a:r>
            <a:r>
              <a:rPr lang="lt-LT" sz="4800" dirty="0" err="1"/>
              <a:t>J</a:t>
            </a:r>
            <a:r>
              <a:rPr lang="lt-LT" sz="4800" dirty="0"/>
              <a:t>.; Kais, </a:t>
            </a:r>
            <a:r>
              <a:rPr lang="lt-LT" sz="4800" dirty="0" err="1"/>
              <a:t>S</a:t>
            </a:r>
            <a:r>
              <a:rPr lang="lt-LT" sz="4800" dirty="0"/>
              <a:t>.; </a:t>
            </a:r>
            <a:r>
              <a:rPr lang="lt-LT" sz="4800" dirty="0" err="1"/>
              <a:t>Wilson</a:t>
            </a:r>
            <a:r>
              <a:rPr lang="lt-LT" sz="4800" dirty="0"/>
              <a:t>, A. </a:t>
            </a:r>
            <a:r>
              <a:rPr lang="lt-LT" sz="4800" dirty="0" err="1"/>
              <a:t>K</a:t>
            </a:r>
            <a:r>
              <a:rPr lang="lt-LT" sz="4800" dirty="0"/>
              <a:t>. Quantum </a:t>
            </a:r>
            <a:r>
              <a:rPr lang="lt-LT" sz="4800" dirty="0" err="1"/>
              <a:t>computing</a:t>
            </a:r>
            <a:r>
              <a:rPr lang="lt-LT" sz="4800" dirty="0"/>
              <a:t> </a:t>
            </a:r>
            <a:r>
              <a:rPr lang="lt-LT" sz="4800" dirty="0" err="1"/>
              <a:t>and</a:t>
            </a:r>
            <a:r>
              <a:rPr lang="lt-LT" sz="4800" dirty="0"/>
              <a:t> </a:t>
            </a:r>
            <a:r>
              <a:rPr lang="lt-LT" sz="4800" dirty="0" err="1"/>
              <a:t>chemistry</a:t>
            </a:r>
            <a:r>
              <a:rPr lang="lt-LT" sz="4800" dirty="0"/>
              <a:t>. </a:t>
            </a:r>
            <a:r>
              <a:rPr lang="lt-LT" sz="4800" i="1" dirty="0" err="1"/>
              <a:t>Cell</a:t>
            </a:r>
            <a:r>
              <a:rPr lang="lt-LT" sz="4800" i="1" dirty="0"/>
              <a:t> </a:t>
            </a:r>
            <a:r>
              <a:rPr lang="lt-LT" sz="4800" i="1" dirty="0" err="1"/>
              <a:t>Reports</a:t>
            </a:r>
            <a:r>
              <a:rPr lang="lt-LT" sz="4800" i="1" dirty="0"/>
              <a:t> </a:t>
            </a:r>
            <a:r>
              <a:rPr lang="lt-LT" sz="4800" i="1" dirty="0" err="1"/>
              <a:t>Physical</a:t>
            </a:r>
            <a:r>
              <a:rPr lang="lt-LT" sz="4800" i="1" dirty="0"/>
              <a:t> </a:t>
            </a:r>
            <a:r>
              <a:rPr lang="lt-LT" sz="4800" i="1" dirty="0" err="1"/>
              <a:t>Science</a:t>
            </a:r>
            <a:r>
              <a:rPr lang="lt-LT" sz="4800" i="1" dirty="0"/>
              <a:t> </a:t>
            </a:r>
            <a:r>
              <a:rPr lang="lt-LT" sz="4800" b="1" dirty="0"/>
              <a:t>2024</a:t>
            </a:r>
            <a:r>
              <a:rPr lang="lt-LT" sz="4800" dirty="0"/>
              <a:t>, </a:t>
            </a:r>
            <a:r>
              <a:rPr lang="lt-LT" sz="4800" i="1" dirty="0"/>
              <a:t>5</a:t>
            </a:r>
            <a:r>
              <a:rPr lang="lt-LT" sz="4800" dirty="0"/>
              <a:t> (9), 102105. DOI: https://</a:t>
            </a:r>
            <a:r>
              <a:rPr lang="lt-LT" sz="4800" dirty="0" err="1"/>
              <a:t>doi.org</a:t>
            </a:r>
            <a:r>
              <a:rPr lang="lt-LT" sz="4800" dirty="0"/>
              <a:t>/10.1016/j.xcrp.2024.102105.</a:t>
            </a:r>
          </a:p>
          <a:p>
            <a:pPr marL="0" indent="0">
              <a:buNone/>
            </a:pPr>
            <a:r>
              <a:rPr lang="lt-LT" sz="4800" dirty="0"/>
              <a:t>(14) </a:t>
            </a:r>
            <a:r>
              <a:rPr lang="lt-LT" sz="4800" dirty="0" err="1"/>
              <a:t>Wu</a:t>
            </a:r>
            <a:r>
              <a:rPr lang="lt-LT" sz="4800" dirty="0"/>
              <a:t>, </a:t>
            </a:r>
            <a:r>
              <a:rPr lang="lt-LT" sz="4800" dirty="0" err="1"/>
              <a:t>W</a:t>
            </a:r>
            <a:r>
              <a:rPr lang="lt-LT" sz="4800" dirty="0"/>
              <a:t>. </a:t>
            </a:r>
            <a:r>
              <a:rPr lang="lt-LT" sz="4800" dirty="0" err="1"/>
              <a:t>Stable</a:t>
            </a:r>
            <a:r>
              <a:rPr lang="lt-LT" sz="4800" dirty="0"/>
              <a:t> </a:t>
            </a:r>
            <a:r>
              <a:rPr lang="lt-LT" sz="4800" dirty="0" err="1"/>
              <a:t>organic</a:t>
            </a:r>
            <a:r>
              <a:rPr lang="lt-LT" sz="4800" dirty="0"/>
              <a:t> </a:t>
            </a:r>
            <a:r>
              <a:rPr lang="lt-LT" sz="4800" dirty="0" err="1"/>
              <a:t>radicals</a:t>
            </a:r>
            <a:r>
              <a:rPr lang="lt-LT" sz="4800" dirty="0"/>
              <a:t> – a </a:t>
            </a:r>
            <a:r>
              <a:rPr lang="lt-LT" sz="4800" dirty="0" err="1"/>
              <a:t>material</a:t>
            </a:r>
            <a:r>
              <a:rPr lang="lt-LT" sz="4800" dirty="0"/>
              <a:t> </a:t>
            </a:r>
            <a:r>
              <a:rPr lang="lt-LT" sz="4800" dirty="0" err="1"/>
              <a:t>platform</a:t>
            </a:r>
            <a:r>
              <a:rPr lang="lt-LT" sz="4800" dirty="0"/>
              <a:t> </a:t>
            </a:r>
            <a:r>
              <a:rPr lang="lt-LT" sz="4800" dirty="0" err="1"/>
              <a:t>for</a:t>
            </a:r>
            <a:r>
              <a:rPr lang="lt-LT" sz="4800" dirty="0"/>
              <a:t> </a:t>
            </a:r>
            <a:r>
              <a:rPr lang="lt-LT" sz="4800" dirty="0" err="1"/>
              <a:t>developing</a:t>
            </a:r>
            <a:r>
              <a:rPr lang="lt-LT" sz="4800" dirty="0"/>
              <a:t> </a:t>
            </a:r>
            <a:r>
              <a:rPr lang="lt-LT" sz="4800" dirty="0" err="1"/>
              <a:t>molecular</a:t>
            </a:r>
            <a:r>
              <a:rPr lang="lt-LT" sz="4800" dirty="0"/>
              <a:t> </a:t>
            </a:r>
            <a:r>
              <a:rPr lang="lt-LT" sz="4800" dirty="0" err="1"/>
              <a:t>quantum</a:t>
            </a:r>
            <a:r>
              <a:rPr lang="lt-LT" sz="4800" dirty="0"/>
              <a:t> </a:t>
            </a:r>
            <a:r>
              <a:rPr lang="lt-LT" sz="4800" dirty="0" err="1"/>
              <a:t>technologies</a:t>
            </a:r>
            <a:r>
              <a:rPr lang="lt-LT" sz="4800" dirty="0"/>
              <a:t>. </a:t>
            </a:r>
            <a:r>
              <a:rPr lang="lt-LT" sz="4800" i="1" dirty="0" err="1"/>
              <a:t>Physical</a:t>
            </a:r>
            <a:r>
              <a:rPr lang="lt-LT" sz="4800" i="1" dirty="0"/>
              <a:t> </a:t>
            </a:r>
            <a:r>
              <a:rPr lang="lt-LT" sz="4800" i="1" dirty="0" err="1"/>
              <a:t>Chemistry</a:t>
            </a:r>
            <a:r>
              <a:rPr lang="lt-LT" sz="4800" i="1" dirty="0"/>
              <a:t> </a:t>
            </a:r>
            <a:r>
              <a:rPr lang="lt-LT" sz="4800" i="1" dirty="0" err="1"/>
              <a:t>Chemical</a:t>
            </a:r>
            <a:r>
              <a:rPr lang="lt-LT" sz="4800" i="1" dirty="0"/>
              <a:t> </a:t>
            </a:r>
            <a:r>
              <a:rPr lang="lt-LT" sz="4800" i="1" dirty="0" err="1"/>
              <a:t>Physics</a:t>
            </a:r>
            <a:r>
              <a:rPr lang="lt-LT" sz="4800" i="1" dirty="0"/>
              <a:t> </a:t>
            </a:r>
            <a:r>
              <a:rPr lang="lt-LT" sz="4800" b="1" dirty="0"/>
              <a:t>2025</a:t>
            </a:r>
            <a:r>
              <a:rPr lang="lt-LT" sz="4800" dirty="0"/>
              <a:t>, </a:t>
            </a:r>
            <a:r>
              <a:rPr lang="lt-LT" sz="4800" i="1" dirty="0"/>
              <a:t>27</a:t>
            </a:r>
            <a:r>
              <a:rPr lang="lt-LT" sz="4800" dirty="0"/>
              <a:t> (3), 1214-1221, 10.1039/D4CP02405B. DOI: 10.1039/D4CP02405B.</a:t>
            </a:r>
          </a:p>
          <a:p>
            <a:pPr marL="0" indent="0">
              <a:buNone/>
            </a:pPr>
            <a:r>
              <a:rPr lang="lt-LT" sz="4800" dirty="0"/>
              <a:t>(15) </a:t>
            </a:r>
            <a:r>
              <a:rPr lang="lt-LT" sz="4800" dirty="0" err="1"/>
              <a:t>Zhou</a:t>
            </a:r>
            <a:r>
              <a:rPr lang="lt-LT" sz="4800" dirty="0"/>
              <a:t>, A.; </a:t>
            </a:r>
            <a:r>
              <a:rPr lang="lt-LT" sz="4800" dirty="0" err="1"/>
              <a:t>Sun</a:t>
            </a:r>
            <a:r>
              <a:rPr lang="lt-LT" sz="4800" dirty="0"/>
              <a:t>, </a:t>
            </a:r>
            <a:r>
              <a:rPr lang="lt-LT" sz="4800" dirty="0" err="1"/>
              <a:t>Z</a:t>
            </a:r>
            <a:r>
              <a:rPr lang="lt-LT" sz="4800" dirty="0"/>
              <a:t>.; </a:t>
            </a:r>
            <a:r>
              <a:rPr lang="lt-LT" sz="4800" dirty="0" err="1"/>
              <a:t>Sun</a:t>
            </a:r>
            <a:r>
              <a:rPr lang="lt-LT" sz="4800" dirty="0"/>
              <a:t>, L. </a:t>
            </a:r>
            <a:r>
              <a:rPr lang="lt-LT" sz="4800" dirty="0" err="1"/>
              <a:t>Stable</a:t>
            </a:r>
            <a:r>
              <a:rPr lang="lt-LT" sz="4800" dirty="0"/>
              <a:t> </a:t>
            </a:r>
            <a:r>
              <a:rPr lang="lt-LT" sz="4800" dirty="0" err="1"/>
              <a:t>organic</a:t>
            </a:r>
            <a:r>
              <a:rPr lang="lt-LT" sz="4800" dirty="0"/>
              <a:t> </a:t>
            </a:r>
            <a:r>
              <a:rPr lang="lt-LT" sz="4800" dirty="0" err="1"/>
              <a:t>radical</a:t>
            </a:r>
            <a:r>
              <a:rPr lang="lt-LT" sz="4800" dirty="0"/>
              <a:t> </a:t>
            </a:r>
            <a:r>
              <a:rPr lang="lt-LT" sz="4800" dirty="0" err="1"/>
              <a:t>qubits</a:t>
            </a:r>
            <a:r>
              <a:rPr lang="lt-LT" sz="4800" dirty="0"/>
              <a:t> </a:t>
            </a:r>
            <a:r>
              <a:rPr lang="lt-LT" sz="4800" dirty="0" err="1"/>
              <a:t>and</a:t>
            </a:r>
            <a:r>
              <a:rPr lang="lt-LT" sz="4800" dirty="0"/>
              <a:t> </a:t>
            </a:r>
            <a:r>
              <a:rPr lang="lt-LT" sz="4800" dirty="0" err="1"/>
              <a:t>their</a:t>
            </a:r>
            <a:r>
              <a:rPr lang="lt-LT" sz="4800" dirty="0"/>
              <a:t> </a:t>
            </a:r>
            <a:r>
              <a:rPr lang="lt-LT" sz="4800" dirty="0" err="1"/>
              <a:t>applications</a:t>
            </a:r>
            <a:r>
              <a:rPr lang="lt-LT" sz="4800" dirty="0"/>
              <a:t> </a:t>
            </a:r>
            <a:r>
              <a:rPr lang="lt-LT" sz="4800" dirty="0" err="1"/>
              <a:t>in</a:t>
            </a:r>
            <a:r>
              <a:rPr lang="lt-LT" sz="4800" dirty="0"/>
              <a:t> </a:t>
            </a:r>
            <a:r>
              <a:rPr lang="lt-LT" sz="4800" dirty="0" err="1"/>
              <a:t>quantum</a:t>
            </a:r>
            <a:r>
              <a:rPr lang="lt-LT" sz="4800" dirty="0"/>
              <a:t> </a:t>
            </a:r>
            <a:r>
              <a:rPr lang="lt-LT" sz="4800" dirty="0" err="1"/>
              <a:t>information</a:t>
            </a:r>
            <a:r>
              <a:rPr lang="lt-LT" sz="4800" dirty="0"/>
              <a:t> </a:t>
            </a:r>
            <a:r>
              <a:rPr lang="lt-LT" sz="4800" dirty="0" err="1"/>
              <a:t>science</a:t>
            </a:r>
            <a:r>
              <a:rPr lang="lt-LT" sz="4800" dirty="0"/>
              <a:t>. </a:t>
            </a:r>
            <a:r>
              <a:rPr lang="lt-LT" sz="4800" i="1" dirty="0" err="1"/>
              <a:t>The</a:t>
            </a:r>
            <a:r>
              <a:rPr lang="lt-LT" sz="4800" i="1" dirty="0"/>
              <a:t> </a:t>
            </a:r>
            <a:r>
              <a:rPr lang="lt-LT" sz="4800" i="1" dirty="0" err="1"/>
              <a:t>Innovation</a:t>
            </a:r>
            <a:r>
              <a:rPr lang="lt-LT" sz="4800" i="1" dirty="0"/>
              <a:t> </a:t>
            </a:r>
            <a:r>
              <a:rPr lang="lt-LT" sz="4800" b="1" dirty="0"/>
              <a:t>2024</a:t>
            </a:r>
            <a:r>
              <a:rPr lang="lt-LT" sz="4800" dirty="0"/>
              <a:t>, </a:t>
            </a:r>
            <a:r>
              <a:rPr lang="lt-LT" sz="4800" i="1" dirty="0"/>
              <a:t>5</a:t>
            </a:r>
            <a:r>
              <a:rPr lang="lt-LT" sz="4800" dirty="0"/>
              <a:t> (5), 100662. DOI: https://</a:t>
            </a:r>
            <a:r>
              <a:rPr lang="lt-LT" sz="4800" dirty="0" err="1"/>
              <a:t>doi.org</a:t>
            </a:r>
            <a:r>
              <a:rPr lang="lt-LT" sz="4800" dirty="0"/>
              <a:t>/10.1016/j.xinn.2024.100662.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1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1331</Words>
  <Application>Microsoft Macintosh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CyberTraining Workshop: Project Overview</vt:lpstr>
      <vt:lpstr>Motivation: Molecular Qubits for QIS</vt:lpstr>
      <vt:lpstr>Planned Calculations</vt:lpstr>
      <vt:lpstr>Test Molecule: Cyclopentadiene</vt:lpstr>
      <vt:lpstr>Analysis of Excitation Energies with DFT</vt:lpstr>
      <vt:lpstr>Analysis of Excitation Energies with DFT</vt:lpstr>
      <vt:lpstr>OpenMolcas/PySpawn for S1 Population Decay</vt:lpstr>
      <vt:lpstr>PySpawn Utilization</vt:lpstr>
      <vt:lpstr>Preliminary Results: Concluding Remarks</vt:lpstr>
      <vt:lpstr>Preliminary Results: Future Plans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Bakenhaster, Slater</dc:creator>
  <cp:lastModifiedBy>Bakenhaster, Slater</cp:lastModifiedBy>
  <cp:revision>4</cp:revision>
  <dcterms:created xsi:type="dcterms:W3CDTF">2026-07-18T16:34:23Z</dcterms:created>
  <dcterms:modified xsi:type="dcterms:W3CDTF">2026-07-18T18:14:42Z</dcterms:modified>
</cp:coreProperties>
</file>