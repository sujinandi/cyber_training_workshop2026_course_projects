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19"/>
  </p:notesMasterIdLst>
  <p:sldIdLst>
    <p:sldId id="256" r:id="rId3"/>
    <p:sldId id="407" r:id="rId4"/>
    <p:sldId id="481" r:id="rId5"/>
    <p:sldId id="482" r:id="rId6"/>
    <p:sldId id="483" r:id="rId7"/>
    <p:sldId id="484" r:id="rId8"/>
    <p:sldId id="486" r:id="rId9"/>
    <p:sldId id="485" r:id="rId10"/>
    <p:sldId id="473" r:id="rId11"/>
    <p:sldId id="488" r:id="rId12"/>
    <p:sldId id="479" r:id="rId13"/>
    <p:sldId id="474" r:id="rId14"/>
    <p:sldId id="478" r:id="rId15"/>
    <p:sldId id="487" r:id="rId16"/>
    <p:sldId id="470" r:id="rId17"/>
    <p:sldId id="4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1714"/>
    <a:srgbClr val="AE9E97"/>
    <a:srgbClr val="131369"/>
    <a:srgbClr val="A02B93"/>
    <a:srgbClr val="083C90"/>
    <a:srgbClr val="8DBBEC"/>
    <a:srgbClr val="7B3578"/>
    <a:srgbClr val="2A8D13"/>
    <a:srgbClr val="583E2E"/>
    <a:srgbClr val="BB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4" autoAdjust="0"/>
    <p:restoredTop sz="94660"/>
  </p:normalViewPr>
  <p:slideViewPr>
    <p:cSldViewPr snapToGrid="0">
      <p:cViewPr varScale="1">
        <p:scale>
          <a:sx n="81" d="100"/>
          <a:sy n="81" d="100"/>
        </p:scale>
        <p:origin x="2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F2AE8-2BEF-4FB2-9717-E6002D914BC1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6C6AB-9198-4CF5-911C-92E54397A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42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E91D-ADF2-D91F-09C4-99ADC74CE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0C523E-F568-BC28-7162-DCE8570E4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B356C-3E80-396E-7017-815F2E11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74550-46EA-203B-19EA-1F29BD74C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Name Here [Go to Insert/Header and Footer in the top toolbar to change the footer text; also to add or remove Slide Number]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BCCF3-4AC3-3127-B927-B8E50389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3EE-9314-4E09-945E-C0C48D9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5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87B5-FF53-8876-C405-3AD74B214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6AEDF-4A4D-83CB-FEB6-C3736448C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CB7BF-5B72-3CD9-6247-DC7A25380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A43BB-A6A8-A558-42FD-1FA3B9B9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Name Here [Go to Insert/Header and Footer in the top toolbar to change the footer text; also to add or remove Slide Number]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869C0-5BD2-CE2F-0928-E2E2EF9F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3EE-9314-4E09-945E-C0C48D9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17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6EA3-3BC8-B99D-F848-0AB95529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15937-9F76-0F14-5832-32DC07D6A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8543B-CF54-B09F-7FDB-642B5C911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BE7C6-3C77-E47E-2FFC-199CED898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Name Here [Go to Insert/Header and Footer in the top toolbar to change the footer text; also to add or remove Slide Number]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B3956-7A31-693D-242B-1A68E162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3EE-9314-4E09-945E-C0C48D9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0F469-F2A4-6F80-108F-D17907F8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90AE7-4C3A-5781-BE30-988831D3A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F65D5-47D4-2F0A-F5A3-34D6E599C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FBF26-15BC-BB1F-8C4E-AC678E67D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0D531-1962-80BE-36E6-309F61EA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Name Here [Go to Insert/Header and Footer in the top toolbar to change the footer text; also to add or remove Slide Number]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3A668-5C71-68BD-FB2D-D3E8911C8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3EE-9314-4E09-945E-C0C48D9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13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F176-919A-5F08-331F-FA4A514C6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6B66A-97C8-928D-99B1-C6210AC86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431E1-50F1-C4A6-B4A6-B1EA6AB75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7986D-F34F-C792-DA53-91BB2B418B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7713AE-F20A-9B1A-F5D5-8DD0B91D7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123862-D723-C5D4-528C-DD6233AC3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1A121B-CFAB-2F9A-ABEA-FC5B2AB8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Name Here [Go to Insert/Header and Footer in the top toolbar to change the footer text; also to add or remove Slide Number]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2592CA-143F-EA5A-F9A6-D59C538E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3EE-9314-4E09-945E-C0C48D9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6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97AB-2672-EAD3-DABD-A07B6886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ADB11F-8609-6A0B-1AA8-539F89F6F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7D005-78B2-BC14-A491-84C07314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Name Here [Go to Insert/Header and Footer in the top toolbar to change the footer text; also to add or remove Slide Number]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3730E-85F2-D7EE-166E-A1A0D36A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3EE-9314-4E09-945E-C0C48D9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3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5B231E-B395-2473-4B0A-BB0C83EAC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CD7063-1070-3B96-521F-289F0B654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Name Here [Go to Insert/Header and Footer in the top toolbar to change the footer text; also to add or remove Slide Number]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6774A-D254-0E57-AB1B-AE2F9D19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3EE-9314-4E09-945E-C0C48D9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65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5F2B-042C-ED15-10A5-994BA090A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BA6E3-96B4-21CE-77DB-67DF6772D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CF5DB-3760-C290-94FC-DFE2303EE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2DD14-75CD-1A49-FB05-A40F91909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67741-9A37-00C2-A912-E60B050D9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Name Here [Go to Insert/Header and Footer in the top toolbar to change the footer text; also to add or remove Slide Number]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14341-D9A3-DCEB-6AF6-703271BE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3EE-9314-4E09-945E-C0C48D9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42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7FFF9-DB5A-5AAB-DF06-CA6CC4A2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B9F6E-AFE8-ACFA-E880-930D91E4D5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9968C-DA8A-AAF9-881F-2CB7DE633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04BF4-C522-7578-599E-DF7EA551B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30A4E-1629-A433-F475-B3AA1AFC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Name Here [Go to Insert/Header and Footer in the top toolbar to change the footer text; also to add or remove Slide Number]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A5C32-6D24-8F8A-A5E0-6DFF78B6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3EE-9314-4E09-945E-C0C48D9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5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659CA-5467-1E5C-3580-CC680AC6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7384E-4517-F762-E828-DCF2F2D09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D887E-3925-9CBE-A900-9AF5775C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516F5-F230-DB44-6700-E4A01A013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Name Here [Go to Insert/Header and Footer in the top toolbar to change the footer text; also to add or remove Slide Number]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2AD7F-C565-8096-E02F-2A51744E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3EE-9314-4E09-945E-C0C48D9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9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10DEE-3A54-7B13-35FB-FC516DE08A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0389A-D7F9-0EBD-EB62-C19374F27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09CD2-FD56-D0F2-494A-E0D96A24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1621B-B7DD-8901-DDE2-8867EC2E9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Name Here [Go to Insert/Header and Footer in the top toolbar to change the footer text; also to add or remove Slide Number]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1B2FC-D45D-0057-E52E-3B062354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3EE-9314-4E09-945E-C0C48D9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24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0E4810-AE1C-B08F-3C23-DFF43D00A3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0844" r="22465"/>
          <a:stretch>
            <a:fillRect/>
          </a:stretch>
        </p:blipFill>
        <p:spPr>
          <a:xfrm>
            <a:off x="10745562" y="0"/>
            <a:ext cx="1446438" cy="791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47924F0-8563-7DBA-363B-C234B35A52DA}"/>
              </a:ext>
            </a:extLst>
          </p:cNvPr>
          <p:cNvSpPr/>
          <p:nvPr userDrawn="1"/>
        </p:nvSpPr>
        <p:spPr>
          <a:xfrm>
            <a:off x="0" y="0"/>
            <a:ext cx="16296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0A97B-7CB6-55F9-E247-956186C0B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3" y="365125"/>
            <a:ext cx="108015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4733"/>
                </a:solidFill>
                <a:latin typeface="Avenir Book" panose="02000503020000020003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C39BA-2624-7CE1-B576-C763285FD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63" y="1825625"/>
            <a:ext cx="10801537" cy="40944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3C118D-7A43-DC93-F6EE-CA15F7292E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39771" y="113238"/>
            <a:ext cx="607178" cy="540940"/>
          </a:xfrm>
          <a:prstGeom prst="rect">
            <a:avLst/>
          </a:prstGeom>
        </p:spPr>
      </p:pic>
      <p:sp>
        <p:nvSpPr>
          <p:cNvPr id="19" name="Hexagon 18">
            <a:extLst>
              <a:ext uri="{FF2B5EF4-FFF2-40B4-BE49-F238E27FC236}">
                <a16:creationId xmlns:a16="http://schemas.microsoft.com/office/drawing/2014/main" id="{9F79CA4D-75D9-EA87-0FD6-84CDC1B0D95D}"/>
              </a:ext>
            </a:extLst>
          </p:cNvPr>
          <p:cNvSpPr/>
          <p:nvPr userDrawn="1"/>
        </p:nvSpPr>
        <p:spPr>
          <a:xfrm>
            <a:off x="10394361" y="524155"/>
            <a:ext cx="619428" cy="533990"/>
          </a:xfrm>
          <a:prstGeom prst="hexagon">
            <a:avLst/>
          </a:prstGeom>
          <a:solidFill>
            <a:srgbClr val="124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24733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4005D9-68BA-1761-6086-524774643C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85000" contrast="100000"/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D3AAFDA-BAE2-37F9-0484-31E805E38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61729"/>
            <a:ext cx="421640" cy="190307"/>
          </a:xfrm>
        </p:spPr>
        <p:txBody>
          <a:bodyPr/>
          <a:lstStyle>
            <a:lvl1pPr>
              <a:defRPr sz="140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210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3BDF54-C5B7-FFFA-DC1D-6BD7015C6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6642EB-DB6F-9897-8A90-A801CE4BD0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85000" contrast="100000"/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9681DBF-CFC8-5E91-3B5A-E59572F8063A}"/>
              </a:ext>
            </a:extLst>
          </p:cNvPr>
          <p:cNvSpPr/>
          <p:nvPr userDrawn="1"/>
        </p:nvSpPr>
        <p:spPr>
          <a:xfrm>
            <a:off x="162962" y="0"/>
            <a:ext cx="1202903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F4A4D-65E3-F08D-59A0-0A8534A33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263" y="1747052"/>
            <a:ext cx="6699564" cy="2354168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124733"/>
                </a:solidFill>
                <a:latin typeface="Avenir Book" panose="02000503020000020003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F7C43-C437-196A-CC73-9D7ED55DA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263" y="4226727"/>
            <a:ext cx="6699564" cy="87942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2" name="Picture 11" descr="A black and orange text&#10;&#10;Description automatically generated">
            <a:extLst>
              <a:ext uri="{FF2B5EF4-FFF2-40B4-BE49-F238E27FC236}">
                <a16:creationId xmlns:a16="http://schemas.microsoft.com/office/drawing/2014/main" id="{DE6793CC-1F2F-F138-A145-3077280F25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4399" y="153482"/>
            <a:ext cx="5465006" cy="87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10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rpose or 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xagon 7">
            <a:extLst>
              <a:ext uri="{FF2B5EF4-FFF2-40B4-BE49-F238E27FC236}">
                <a16:creationId xmlns:a16="http://schemas.microsoft.com/office/drawing/2014/main" id="{55CAD839-DF75-72D1-0837-DA1928801C5A}"/>
              </a:ext>
            </a:extLst>
          </p:cNvPr>
          <p:cNvSpPr/>
          <p:nvPr userDrawn="1"/>
        </p:nvSpPr>
        <p:spPr>
          <a:xfrm>
            <a:off x="9478978" y="-805375"/>
            <a:ext cx="1868472" cy="1610752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2EF61F-DB75-9A7B-2557-CE38A8ED18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85000" contrast="100000"/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8B0EE4-8830-F30B-A47C-B0DDCEF3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"/>
            <a:ext cx="10515600" cy="1707522"/>
          </a:xfrm>
          <a:prstGeom prst="rect">
            <a:avLst/>
          </a:prstGeom>
        </p:spPr>
        <p:txBody>
          <a:bodyPr anchor="b" anchorCtr="1"/>
          <a:lstStyle>
            <a:lvl1pPr>
              <a:defRPr sz="6000">
                <a:solidFill>
                  <a:srgbClr val="124733"/>
                </a:solidFill>
                <a:latin typeface="Avenir Book" panose="02000503020000020003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D5977-6AB6-3B57-B4AA-CD2ECD1BE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707523"/>
            <a:ext cx="10515600" cy="4163433"/>
          </a:xfrm>
          <a:prstGeom prst="rect">
            <a:avLst/>
          </a:prstGeom>
          <a:solidFill>
            <a:schemeClr val="accent2">
              <a:alpha val="90000"/>
            </a:schemeClr>
          </a:solidFill>
          <a:scene3d>
            <a:camera prst="orthographicFront"/>
            <a:lightRig rig="threePt" dir="t"/>
          </a:scene3d>
          <a:sp3d>
            <a:bevelT w="0"/>
          </a:sp3d>
        </p:spPr>
        <p:txBody>
          <a:bodyPr lIns="182880" tIns="182880" rIns="91440"/>
          <a:lstStyle>
            <a:lvl1pPr marL="0" indent="0">
              <a:buNone/>
              <a:defRPr sz="2400">
                <a:solidFill>
                  <a:schemeClr val="bg1"/>
                </a:solidFill>
                <a:latin typeface="Avenir Book" panose="02000503020000020003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D03940-0291-9087-526B-C13881CF6D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37130" y="6094008"/>
            <a:ext cx="607178" cy="540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AC99BAC-2FF3-9399-5B2C-F1E68D52E46B}"/>
              </a:ext>
            </a:extLst>
          </p:cNvPr>
          <p:cNvSpPr/>
          <p:nvPr userDrawn="1"/>
        </p:nvSpPr>
        <p:spPr>
          <a:xfrm>
            <a:off x="-306927" y="-952107"/>
            <a:ext cx="12895868" cy="952107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87B9AB91-BC01-783A-AC06-9A8D3C299389}"/>
              </a:ext>
            </a:extLst>
          </p:cNvPr>
          <p:cNvSpPr/>
          <p:nvPr userDrawn="1"/>
        </p:nvSpPr>
        <p:spPr>
          <a:xfrm>
            <a:off x="11150297" y="538383"/>
            <a:ext cx="619428" cy="533990"/>
          </a:xfrm>
          <a:prstGeom prst="hexagon">
            <a:avLst/>
          </a:prstGeom>
          <a:solidFill>
            <a:srgbClr val="124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247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036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ose or Section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47924F0-8563-7DBA-363B-C234B35A52DA}"/>
              </a:ext>
            </a:extLst>
          </p:cNvPr>
          <p:cNvSpPr/>
          <p:nvPr userDrawn="1"/>
        </p:nvSpPr>
        <p:spPr>
          <a:xfrm>
            <a:off x="-1" y="0"/>
            <a:ext cx="12763893" cy="6858000"/>
          </a:xfrm>
          <a:prstGeom prst="rect">
            <a:avLst/>
          </a:prstGeom>
          <a:solidFill>
            <a:srgbClr val="124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9F79CA4D-75D9-EA87-0FD6-84CDC1B0D95D}"/>
              </a:ext>
            </a:extLst>
          </p:cNvPr>
          <p:cNvSpPr/>
          <p:nvPr userDrawn="1"/>
        </p:nvSpPr>
        <p:spPr>
          <a:xfrm>
            <a:off x="9487055" y="6129239"/>
            <a:ext cx="619428" cy="533990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24733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41F356-BE3C-662D-A29D-DFEC3B5D7140}"/>
              </a:ext>
            </a:extLst>
          </p:cNvPr>
          <p:cNvSpPr/>
          <p:nvPr userDrawn="1"/>
        </p:nvSpPr>
        <p:spPr>
          <a:xfrm>
            <a:off x="-2" y="7070"/>
            <a:ext cx="16296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4005D9-68BA-1761-6086-524774643C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85000" contrast="100000"/>
            <a:alphaModFix amt="10000"/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B6F861-78BA-C1A3-FB4C-1C81D8C34892}"/>
              </a:ext>
            </a:extLst>
          </p:cNvPr>
          <p:cNvSpPr/>
          <p:nvPr userDrawn="1"/>
        </p:nvSpPr>
        <p:spPr>
          <a:xfrm>
            <a:off x="12192000" y="-207390"/>
            <a:ext cx="647307" cy="7286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3B5AF1-7C58-62F1-7004-EB42505E2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7515" y="1732945"/>
            <a:ext cx="7356970" cy="3406251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 marL="0" indent="0" algn="ctr">
              <a:buFontTx/>
              <a:buNone/>
              <a:defRPr>
                <a:solidFill>
                  <a:schemeClr val="accent2"/>
                </a:solidFill>
                <a:latin typeface="Avenir Book" panose="02000503020000020003" pitchFamily="2" charset="0"/>
              </a:defRPr>
            </a:lvl1pPr>
            <a:lvl2pPr marL="800100" indent="-342900" algn="ctr">
              <a:buFont typeface="Arial" panose="020B0604020202020204" pitchFamily="34" charset="0"/>
              <a:buChar char="•"/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2pPr>
            <a:lvl3pPr marL="1257300" indent="-342900" algn="ctr">
              <a:buFont typeface="Arial" panose="020B0604020202020204" pitchFamily="34" charset="0"/>
              <a:buChar char="•"/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3pPr>
            <a:lvl4pPr marL="1657350" indent="-285750" algn="ctr">
              <a:buFont typeface="Arial" panose="020B0604020202020204" pitchFamily="34" charset="0"/>
              <a:buChar char="•"/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4pPr>
            <a:lvl5pPr marL="2114550" indent="-285750" algn="ctr">
              <a:buFont typeface="Arial" panose="020B0604020202020204" pitchFamily="34" charset="0"/>
              <a:buChar char="•"/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4D7BB6CF-7CDC-A7A0-CF88-5A76DD11A30E}"/>
              </a:ext>
            </a:extLst>
          </p:cNvPr>
          <p:cNvSpPr/>
          <p:nvPr userDrawn="1"/>
        </p:nvSpPr>
        <p:spPr>
          <a:xfrm>
            <a:off x="10106483" y="5247248"/>
            <a:ext cx="1868472" cy="1610752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3C118D-7A43-DC93-F6EE-CA15F7292E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 contrast="100000"/>
          </a:blip>
          <a:stretch>
            <a:fillRect/>
          </a:stretch>
        </p:blipFill>
        <p:spPr>
          <a:xfrm>
            <a:off x="10737130" y="6094008"/>
            <a:ext cx="607178" cy="540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891DF50-6CE1-D45C-0D1C-B2403D9380C4}"/>
              </a:ext>
            </a:extLst>
          </p:cNvPr>
          <p:cNvSpPr/>
          <p:nvPr userDrawn="1"/>
        </p:nvSpPr>
        <p:spPr>
          <a:xfrm>
            <a:off x="-396942" y="-952107"/>
            <a:ext cx="12985883" cy="952107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A2F8FF-3777-5B72-7525-E59F923C6AE7}"/>
              </a:ext>
            </a:extLst>
          </p:cNvPr>
          <p:cNvSpPr/>
          <p:nvPr userDrawn="1"/>
        </p:nvSpPr>
        <p:spPr>
          <a:xfrm>
            <a:off x="-472357" y="-207390"/>
            <a:ext cx="472357" cy="7065389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59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xagon 7">
            <a:extLst>
              <a:ext uri="{FF2B5EF4-FFF2-40B4-BE49-F238E27FC236}">
                <a16:creationId xmlns:a16="http://schemas.microsoft.com/office/drawing/2014/main" id="{55CAD839-DF75-72D1-0837-DA1928801C5A}"/>
              </a:ext>
            </a:extLst>
          </p:cNvPr>
          <p:cNvSpPr/>
          <p:nvPr userDrawn="1"/>
        </p:nvSpPr>
        <p:spPr>
          <a:xfrm>
            <a:off x="9478978" y="-805375"/>
            <a:ext cx="1868472" cy="1610752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2EF61F-DB75-9A7B-2557-CE38A8ED18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85000" contrast="100000"/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8B0EE4-8830-F30B-A47C-B0DDCEF3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"/>
            <a:ext cx="10515600" cy="1707522"/>
          </a:xfrm>
          <a:prstGeom prst="rect">
            <a:avLst/>
          </a:prstGeom>
        </p:spPr>
        <p:txBody>
          <a:bodyPr anchor="b" anchorCtr="1"/>
          <a:lstStyle>
            <a:lvl1pPr>
              <a:defRPr sz="6000">
                <a:solidFill>
                  <a:srgbClr val="124733"/>
                </a:solidFill>
                <a:latin typeface="Avenir Book" panose="02000503020000020003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D81287D-A250-9CF7-8195-D6A0C2C5D62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31850" y="1707523"/>
            <a:ext cx="2467531" cy="4163432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0"/>
          </a:sp3d>
        </p:spPr>
        <p:txBody>
          <a:bodyPr lIns="182880" tIns="182880" rIns="91440"/>
          <a:lstStyle>
            <a:lvl1pPr marL="0" indent="0">
              <a:buNone/>
              <a:defRPr sz="2400">
                <a:solidFill>
                  <a:schemeClr val="bg1"/>
                </a:solidFill>
                <a:latin typeface="Avenir Book" panose="02000503020000020003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0A5DB87-5862-A745-80A8-4ECC42AEF45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527240" y="1707523"/>
            <a:ext cx="2454831" cy="4163432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0"/>
          </a:sp3d>
        </p:spPr>
        <p:txBody>
          <a:bodyPr lIns="182880" tIns="182880" rIns="91440"/>
          <a:lstStyle>
            <a:lvl1pPr marL="0" indent="0">
              <a:buNone/>
              <a:defRPr sz="2400">
                <a:solidFill>
                  <a:schemeClr val="bg1"/>
                </a:solidFill>
                <a:latin typeface="Avenir Book" panose="02000503020000020003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02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5F844D-6D57-694E-DB23-134DF4E5505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09930" y="1707523"/>
            <a:ext cx="2454831" cy="4163432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0"/>
          </a:sp3d>
        </p:spPr>
        <p:txBody>
          <a:bodyPr lIns="182880" tIns="182880" rIns="91440"/>
          <a:lstStyle>
            <a:lvl1pPr marL="0" indent="0">
              <a:buNone/>
              <a:defRPr sz="2400">
                <a:solidFill>
                  <a:schemeClr val="bg1"/>
                </a:solidFill>
                <a:latin typeface="Avenir Book" panose="02000503020000020003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03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FB17C65-7FC6-38C4-109A-F761CD09BCF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892619" y="1707522"/>
            <a:ext cx="2454831" cy="4163433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0"/>
          </a:sp3d>
        </p:spPr>
        <p:txBody>
          <a:bodyPr lIns="182880" tIns="182880" rIns="91440"/>
          <a:lstStyle>
            <a:lvl1pPr marL="0" indent="0">
              <a:buNone/>
              <a:defRPr sz="2400">
                <a:solidFill>
                  <a:schemeClr val="bg1"/>
                </a:solidFill>
                <a:latin typeface="Avenir Book" panose="02000503020000020003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04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B9F9F-51F4-DC68-DD85-4B947D7C7D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37130" y="6094008"/>
            <a:ext cx="607178" cy="54094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12F240-519D-E0AC-4670-61000EA447F0}"/>
              </a:ext>
            </a:extLst>
          </p:cNvPr>
          <p:cNvSpPr/>
          <p:nvPr userDrawn="1"/>
        </p:nvSpPr>
        <p:spPr>
          <a:xfrm>
            <a:off x="-306927" y="-952107"/>
            <a:ext cx="12895868" cy="952107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AEDD12CA-4E1C-61D1-B9B3-72A9BB835FAC}"/>
              </a:ext>
            </a:extLst>
          </p:cNvPr>
          <p:cNvSpPr/>
          <p:nvPr userDrawn="1"/>
        </p:nvSpPr>
        <p:spPr>
          <a:xfrm>
            <a:off x="11150297" y="538383"/>
            <a:ext cx="619428" cy="533990"/>
          </a:xfrm>
          <a:prstGeom prst="hexagon">
            <a:avLst/>
          </a:prstGeom>
          <a:solidFill>
            <a:srgbClr val="124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247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526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47924F0-8563-7DBA-363B-C234B35A52DA}"/>
              </a:ext>
            </a:extLst>
          </p:cNvPr>
          <p:cNvSpPr/>
          <p:nvPr userDrawn="1"/>
        </p:nvSpPr>
        <p:spPr>
          <a:xfrm>
            <a:off x="0" y="0"/>
            <a:ext cx="16296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4D7BB6CF-7CDC-A7A0-CF88-5A76DD11A30E}"/>
              </a:ext>
            </a:extLst>
          </p:cNvPr>
          <p:cNvSpPr/>
          <p:nvPr userDrawn="1"/>
        </p:nvSpPr>
        <p:spPr>
          <a:xfrm>
            <a:off x="10720469" y="-805375"/>
            <a:ext cx="1868472" cy="1610752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4005D9-68BA-1761-6086-524774643C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85000" contrast="100000"/>
            <a:alphaModFix amt="15000"/>
          </a:blip>
          <a:stretch>
            <a:fillRect/>
          </a:stretch>
        </p:blipFill>
        <p:spPr>
          <a:xfrm>
            <a:off x="0" y="707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50A97B-7CB6-55F9-E247-956186C0B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3" y="365125"/>
            <a:ext cx="108015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4733"/>
                </a:solidFill>
                <a:latin typeface="Avenir Book" panose="02000503020000020003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C39BA-2624-7CE1-B576-C763285FD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63" y="1825625"/>
            <a:ext cx="10801537" cy="40944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3C118D-7A43-DC93-F6EE-CA15F7292E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37130" y="6094008"/>
            <a:ext cx="607178" cy="540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891DF50-6CE1-D45C-0D1C-B2403D9380C4}"/>
              </a:ext>
            </a:extLst>
          </p:cNvPr>
          <p:cNvSpPr/>
          <p:nvPr userDrawn="1"/>
        </p:nvSpPr>
        <p:spPr>
          <a:xfrm>
            <a:off x="-306927" y="-952107"/>
            <a:ext cx="12895868" cy="952107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B6F861-78BA-C1A3-FB4C-1C81D8C34892}"/>
              </a:ext>
            </a:extLst>
          </p:cNvPr>
          <p:cNvSpPr/>
          <p:nvPr userDrawn="1"/>
        </p:nvSpPr>
        <p:spPr>
          <a:xfrm>
            <a:off x="12192000" y="-207390"/>
            <a:ext cx="647307" cy="7286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9F79CA4D-75D9-EA87-0FD6-84CDC1B0D95D}"/>
              </a:ext>
            </a:extLst>
          </p:cNvPr>
          <p:cNvSpPr/>
          <p:nvPr userDrawn="1"/>
        </p:nvSpPr>
        <p:spPr>
          <a:xfrm>
            <a:off x="10970177" y="953647"/>
            <a:ext cx="619428" cy="533990"/>
          </a:xfrm>
          <a:prstGeom prst="hexagon">
            <a:avLst/>
          </a:prstGeom>
          <a:solidFill>
            <a:srgbClr val="124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247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029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7646B08-D982-807C-032B-3FD2924A978B}"/>
              </a:ext>
            </a:extLst>
          </p:cNvPr>
          <p:cNvSpPr/>
          <p:nvPr userDrawn="1"/>
        </p:nvSpPr>
        <p:spPr>
          <a:xfrm>
            <a:off x="0" y="1487636"/>
            <a:ext cx="12192000" cy="46063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3C118D-7A43-DC93-F6EE-CA15F7292E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7130" y="6094008"/>
            <a:ext cx="607178" cy="540940"/>
          </a:xfrm>
          <a:prstGeom prst="rect">
            <a:avLst/>
          </a:prstGeom>
        </p:spPr>
      </p:pic>
      <p:sp>
        <p:nvSpPr>
          <p:cNvPr id="10" name="Hexagon 9">
            <a:extLst>
              <a:ext uri="{FF2B5EF4-FFF2-40B4-BE49-F238E27FC236}">
                <a16:creationId xmlns:a16="http://schemas.microsoft.com/office/drawing/2014/main" id="{0FA427CC-A25E-A706-FB04-5541F7D4AAA9}"/>
              </a:ext>
            </a:extLst>
          </p:cNvPr>
          <p:cNvSpPr/>
          <p:nvPr userDrawn="1"/>
        </p:nvSpPr>
        <p:spPr>
          <a:xfrm>
            <a:off x="10720469" y="-805375"/>
            <a:ext cx="1868472" cy="1610752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3D453C-B95E-0FCC-62F0-6C155F012E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85000" contrast="100000"/>
            <a:alphaModFix amt="15000"/>
          </a:blip>
          <a:stretch>
            <a:fillRect/>
          </a:stretch>
        </p:blipFill>
        <p:spPr>
          <a:xfrm>
            <a:off x="0" y="14140"/>
            <a:ext cx="12192000" cy="6858000"/>
          </a:xfrm>
          <a:prstGeom prst="rect">
            <a:avLst/>
          </a:prstGeom>
        </p:spPr>
      </p:pic>
      <p:sp>
        <p:nvSpPr>
          <p:cNvPr id="9" name="Hexagon 8">
            <a:extLst>
              <a:ext uri="{FF2B5EF4-FFF2-40B4-BE49-F238E27FC236}">
                <a16:creationId xmlns:a16="http://schemas.microsoft.com/office/drawing/2014/main" id="{90FE0625-4656-ECBB-464A-87E1BC3A5DD3}"/>
              </a:ext>
            </a:extLst>
          </p:cNvPr>
          <p:cNvSpPr/>
          <p:nvPr userDrawn="1"/>
        </p:nvSpPr>
        <p:spPr>
          <a:xfrm>
            <a:off x="10970177" y="953647"/>
            <a:ext cx="619428" cy="533990"/>
          </a:xfrm>
          <a:prstGeom prst="hexagon">
            <a:avLst/>
          </a:prstGeom>
          <a:solidFill>
            <a:srgbClr val="124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24733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9412B3-B990-CD22-E98C-FBD8B7A433C6}"/>
              </a:ext>
            </a:extLst>
          </p:cNvPr>
          <p:cNvSpPr/>
          <p:nvPr userDrawn="1"/>
        </p:nvSpPr>
        <p:spPr>
          <a:xfrm>
            <a:off x="-306927" y="-952107"/>
            <a:ext cx="12895868" cy="952107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105D9C-C2A9-EC4D-D997-91A663B8FA0F}"/>
              </a:ext>
            </a:extLst>
          </p:cNvPr>
          <p:cNvSpPr/>
          <p:nvPr userDrawn="1"/>
        </p:nvSpPr>
        <p:spPr>
          <a:xfrm>
            <a:off x="12192000" y="-207390"/>
            <a:ext cx="647307" cy="7286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0A97B-7CB6-55F9-E247-956186C0B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3" y="365125"/>
            <a:ext cx="108015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4733"/>
                </a:solidFill>
                <a:latin typeface="Avenir Book" panose="02000503020000020003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C39BA-2624-7CE1-B576-C763285FD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63" y="1825625"/>
            <a:ext cx="10801537" cy="40944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2587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C2FBC3-6D02-B8B2-76C1-A4C086C9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CD7EF-E87D-3FA5-B790-CA5A37B65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45397-83ED-3438-2E88-844FC02BA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F486-14A0-9D29-C417-CD58DFAEE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Unit Name Here [Go to Insert/Header and Footer in the top toolbar to change the footer text; also to add or remove Slide Number]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18637-7FB4-81C6-B081-158C75B82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EC3EE-9314-4E09-945E-C0C48D9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0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0AF8A23-31AC-CD8C-511D-4EBD021CBE0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lum bright="70000" contrast="-70000"/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4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F8AE4E-1BBB-1CDA-3487-A39A0BEF4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2480" y="1344830"/>
            <a:ext cx="9807039" cy="2457340"/>
          </a:xfrm>
        </p:spPr>
        <p:txBody>
          <a:bodyPr lIns="91440" tIns="45720" rIns="91440" bIns="45720" anchor="b"/>
          <a:lstStyle/>
          <a:p>
            <a:pPr>
              <a:lnSpc>
                <a:spcPct val="120000"/>
              </a:lnSpc>
            </a:pPr>
            <a:r>
              <a:rPr lang="en-US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Photodissociation Dynamics of CH</a:t>
            </a:r>
            <a:r>
              <a:rPr lang="en-US" sz="4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</a:t>
            </a:r>
            <a:r>
              <a:rPr lang="en-US" sz="4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PySpawn</a:t>
            </a:r>
            <a:r>
              <a:rPr lang="en-US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4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OpenMolcas</a:t>
            </a:r>
            <a:endParaRPr lang="en-US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328ED7A-CD05-9B0A-3A16-67A151E2D243}"/>
              </a:ext>
            </a:extLst>
          </p:cNvPr>
          <p:cNvSpPr txBox="1">
            <a:spLocks/>
          </p:cNvSpPr>
          <p:nvPr/>
        </p:nvSpPr>
        <p:spPr>
          <a:xfrm>
            <a:off x="2157349" y="4756029"/>
            <a:ext cx="7877300" cy="131226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124733"/>
                </a:soli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Deokgi Hong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Materials Science and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University of Texas at Dallas</a:t>
            </a:r>
          </a:p>
        </p:txBody>
      </p:sp>
      <p:pic>
        <p:nvPicPr>
          <p:cNvPr id="2" name="Picture 1" descr="SUNY, Buffalo (University at Buffalo)">
            <a:extLst>
              <a:ext uri="{FF2B5EF4-FFF2-40B4-BE49-F238E27FC236}">
                <a16:creationId xmlns:a16="http://schemas.microsoft.com/office/drawing/2014/main" id="{42907428-FB43-8B72-5F15-3D616CF445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583" b="31651"/>
          <a:stretch>
            <a:fillRect/>
          </a:stretch>
        </p:blipFill>
        <p:spPr>
          <a:xfrm>
            <a:off x="9569138" y="27986"/>
            <a:ext cx="2445226" cy="102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8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BF8569-7BFB-8AEE-03D6-B2F00381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E893B-B901-9F2B-917B-B638C1B30E1C}"/>
              </a:ext>
            </a:extLst>
          </p:cNvPr>
          <p:cNvSpPr txBox="1"/>
          <p:nvPr/>
        </p:nvSpPr>
        <p:spPr>
          <a:xfrm>
            <a:off x="340047" y="254622"/>
            <a:ext cx="1821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D037B-D4FE-E0B9-1A41-7B77CF5E7EEE}"/>
              </a:ext>
            </a:extLst>
          </p:cNvPr>
          <p:cNvSpPr txBox="1"/>
          <p:nvPr/>
        </p:nvSpPr>
        <p:spPr>
          <a:xfrm>
            <a:off x="613179" y="1476020"/>
            <a:ext cx="10490252" cy="412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Photodissociation reactions of CH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Ab initio multiple spawning method for nonadiabatic molecular dynamics simulations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Observed reactions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Electronic state population change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Branching ratio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009759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7D40-A05F-770C-A1BA-6BC1CD76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42CD72-3CCE-39C8-C0BA-C64D8CC64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D346D-3DFB-10A0-1A24-61E0976DE833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Reaction pathways of CH</a:t>
            </a: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photodissociation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8C0E40-8401-010B-0127-21A7FE6BA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129" y="1598327"/>
            <a:ext cx="4900279" cy="30675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3C96C1-02EE-323D-7843-2919B244996A}"/>
              </a:ext>
            </a:extLst>
          </p:cNvPr>
          <p:cNvSpPr txBox="1"/>
          <p:nvPr/>
        </p:nvSpPr>
        <p:spPr>
          <a:xfrm>
            <a:off x="7097051" y="4892221"/>
            <a:ext cx="3945054" cy="360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J. Phys. Chem.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5273−5284 (2024)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20CCE4-83A8-CC49-6D46-44A48B4F8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842" y="1455137"/>
            <a:ext cx="4594462" cy="33539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5CF912-6F99-DFB4-7ECC-5DA02808113C}"/>
              </a:ext>
            </a:extLst>
          </p:cNvPr>
          <p:cNvSpPr txBox="1"/>
          <p:nvPr/>
        </p:nvSpPr>
        <p:spPr>
          <a:xfrm>
            <a:off x="907129" y="5629579"/>
            <a:ext cx="7975260" cy="726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Reaction pathways of 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photodissociation have been studied.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pathways include major 2-body reactions and minor 3-body reactions.</a:t>
            </a:r>
          </a:p>
        </p:txBody>
      </p:sp>
    </p:spTree>
    <p:extLst>
      <p:ext uri="{BB962C8B-B14F-4D97-AF65-F5344CB8AC3E}">
        <p14:creationId xmlns:p14="http://schemas.microsoft.com/office/powerpoint/2010/main" val="2446691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07D16-0C12-EAFE-0AB4-3BD019D5E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3301E-28D1-F669-48CF-EBC94397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A5356-9467-E0A5-74DE-A16EE8DF9677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Branching ratio of CH</a:t>
            </a: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photodissociation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F92B36-869F-B7B5-5913-05CC5AB11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830" y="1531159"/>
            <a:ext cx="8464340" cy="32494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D7D4B8-C199-3011-4640-E9B942C53CF3}"/>
              </a:ext>
            </a:extLst>
          </p:cNvPr>
          <p:cNvSpPr txBox="1"/>
          <p:nvPr/>
        </p:nvSpPr>
        <p:spPr>
          <a:xfrm>
            <a:off x="6383116" y="4891054"/>
            <a:ext cx="3945054" cy="360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J. Phys. Chem.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5273−5284 (2024)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865B3-8D48-22A1-D068-C2EAF56C35FB}"/>
              </a:ext>
            </a:extLst>
          </p:cNvPr>
          <p:cNvSpPr txBox="1"/>
          <p:nvPr/>
        </p:nvSpPr>
        <p:spPr>
          <a:xfrm>
            <a:off x="1610160" y="5567960"/>
            <a:ext cx="8971679" cy="726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branching ratio of 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photodissociation was reported in previous experimental and computational studies.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14163F-8BE2-962A-E004-D38BBA646D55}"/>
              </a:ext>
            </a:extLst>
          </p:cNvPr>
          <p:cNvSpPr/>
          <p:nvPr/>
        </p:nvSpPr>
        <p:spPr>
          <a:xfrm>
            <a:off x="1959429" y="2375066"/>
            <a:ext cx="1341911" cy="13062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0BC1D6-13B4-69AE-6334-BECCE7BAF7F4}"/>
              </a:ext>
            </a:extLst>
          </p:cNvPr>
          <p:cNvSpPr/>
          <p:nvPr/>
        </p:nvSpPr>
        <p:spPr>
          <a:xfrm>
            <a:off x="1959429" y="3764477"/>
            <a:ext cx="1341911" cy="890649"/>
          </a:xfrm>
          <a:prstGeom prst="rect">
            <a:avLst/>
          </a:prstGeom>
          <a:noFill/>
          <a:ln>
            <a:solidFill>
              <a:srgbClr val="DB17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A6C9E-CA9B-DD0D-BE4B-9C2E7E682A61}"/>
              </a:ext>
            </a:extLst>
          </p:cNvPr>
          <p:cNvSpPr txBox="1"/>
          <p:nvPr/>
        </p:nvSpPr>
        <p:spPr>
          <a:xfrm>
            <a:off x="691650" y="2831103"/>
            <a:ext cx="1172180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body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F9D5D7-8C52-6BBC-371B-DC04EE18766A}"/>
              </a:ext>
            </a:extLst>
          </p:cNvPr>
          <p:cNvSpPr txBox="1"/>
          <p:nvPr/>
        </p:nvSpPr>
        <p:spPr>
          <a:xfrm>
            <a:off x="512178" y="4012696"/>
            <a:ext cx="1351652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Three body</a:t>
            </a:r>
          </a:p>
        </p:txBody>
      </p:sp>
    </p:spTree>
    <p:extLst>
      <p:ext uri="{BB962C8B-B14F-4D97-AF65-F5344CB8AC3E}">
        <p14:creationId xmlns:p14="http://schemas.microsoft.com/office/powerpoint/2010/main" val="299008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73902-B91D-81F7-5B50-ECEF22E8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50C9E3-365E-DA6C-1243-3D2E261B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9AA666-FB40-23E3-1FBF-927CA7C8AD63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Timescale of CH</a:t>
            </a: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photodissociation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9E5E3-F44D-6FFC-22CF-14E72EB05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95" y="1555667"/>
            <a:ext cx="3077004" cy="21338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E95771-2458-3858-BC8C-7E286CE7C9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9"/>
          <a:stretch>
            <a:fillRect/>
          </a:stretch>
        </p:blipFill>
        <p:spPr>
          <a:xfrm>
            <a:off x="3893035" y="1654157"/>
            <a:ext cx="2991269" cy="20354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14A60B-CF65-5467-159A-73AB44906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53" y="3874980"/>
            <a:ext cx="3148046" cy="22645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2959B3-7246-97FE-3DD9-88C78F3A2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8773" y="3874979"/>
            <a:ext cx="3139508" cy="22645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A184063-D54E-A2AD-70FF-C03781E39B44}"/>
              </a:ext>
            </a:extLst>
          </p:cNvPr>
          <p:cNvSpPr txBox="1"/>
          <p:nvPr/>
        </p:nvSpPr>
        <p:spPr>
          <a:xfrm>
            <a:off x="340045" y="970135"/>
            <a:ext cx="6675867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Potential energy change in NAMD with TSH (FSSH) method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FC8367-94F9-7D21-3D4F-5150E0333241}"/>
              </a:ext>
            </a:extLst>
          </p:cNvPr>
          <p:cNvSpPr txBox="1"/>
          <p:nvPr/>
        </p:nvSpPr>
        <p:spPr>
          <a:xfrm>
            <a:off x="2375063" y="2947704"/>
            <a:ext cx="1032655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7C0F4E-4DFD-805B-2B92-554452693B2A}"/>
              </a:ext>
            </a:extLst>
          </p:cNvPr>
          <p:cNvSpPr txBox="1"/>
          <p:nvPr/>
        </p:nvSpPr>
        <p:spPr>
          <a:xfrm>
            <a:off x="5628408" y="2947704"/>
            <a:ext cx="1160895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F07A0C-F585-2BBE-4BAF-45D196E26A55}"/>
              </a:ext>
            </a:extLst>
          </p:cNvPr>
          <p:cNvSpPr txBox="1"/>
          <p:nvPr/>
        </p:nvSpPr>
        <p:spPr>
          <a:xfrm>
            <a:off x="2210724" y="5337958"/>
            <a:ext cx="1160895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+ 2H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6AED88-885E-A311-A597-6D6A1D1AE992}"/>
              </a:ext>
            </a:extLst>
          </p:cNvPr>
          <p:cNvSpPr txBox="1"/>
          <p:nvPr/>
        </p:nvSpPr>
        <p:spPr>
          <a:xfrm>
            <a:off x="5368591" y="5337958"/>
            <a:ext cx="1505540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 + 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A75457-D132-D377-7E30-8E9EDA71D18D}"/>
              </a:ext>
            </a:extLst>
          </p:cNvPr>
          <p:cNvSpPr txBox="1"/>
          <p:nvPr/>
        </p:nvSpPr>
        <p:spPr>
          <a:xfrm>
            <a:off x="7341478" y="2286259"/>
            <a:ext cx="4672765" cy="2721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CH₄ photodissociation reactions take place within tens of femtoseconds.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do not require long simulation times.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Hence, this system is an efficient testbed for NAMD methods.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0E81A3-251D-E180-004B-746B5F5C17BC}"/>
              </a:ext>
            </a:extLst>
          </p:cNvPr>
          <p:cNvSpPr txBox="1"/>
          <p:nvPr/>
        </p:nvSpPr>
        <p:spPr>
          <a:xfrm>
            <a:off x="3687125" y="6326810"/>
            <a:ext cx="3425938" cy="360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J. Chem. Phys. 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131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, 224320 (2009)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713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6D78-57F1-5FEE-ABE7-6D2C6F51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2BC0C-5D66-80C6-32D2-76EB7DB1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3AA75-7B93-6CD4-64EC-83D5E7FB0627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Ab initio multiple spawning (AIMS)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DBB1A-A1FC-CF15-100A-B7F567A38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820" y="1257388"/>
            <a:ext cx="4982038" cy="35196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58F79A-E009-1B22-91C3-9F85D4269EEC}"/>
              </a:ext>
            </a:extLst>
          </p:cNvPr>
          <p:cNvSpPr txBox="1"/>
          <p:nvPr/>
        </p:nvSpPr>
        <p:spPr>
          <a:xfrm>
            <a:off x="5110766" y="4777036"/>
            <a:ext cx="3380092" cy="360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Chem.Rev. 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118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, 3305−3336 (2018)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B085B4-9186-FD87-FBA9-8C44E9CDA1BD}"/>
              </a:ext>
            </a:extLst>
          </p:cNvPr>
          <p:cNvSpPr txBox="1"/>
          <p:nvPr/>
        </p:nvSpPr>
        <p:spPr>
          <a:xfrm>
            <a:off x="1297210" y="5402721"/>
            <a:ext cx="9405257" cy="1059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Multiple trajectories are spawned during a simulation.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applying AIMS to the 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photodissociation case, we can confirm that AIMS generates different reaction pathways within a single simulation.</a:t>
            </a:r>
          </a:p>
        </p:txBody>
      </p:sp>
    </p:spTree>
    <p:extLst>
      <p:ext uri="{BB962C8B-B14F-4D97-AF65-F5344CB8AC3E}">
        <p14:creationId xmlns:p14="http://schemas.microsoft.com/office/powerpoint/2010/main" val="2662931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083E-119B-16CF-3E48-E922A60A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E3E206-8AA5-F99B-F937-011F7C06B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A18260-6805-1634-2A70-005FA8231393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A7D15-C0A7-5815-76C9-6CF4C9433153}"/>
              </a:ext>
            </a:extLst>
          </p:cNvPr>
          <p:cNvSpPr txBox="1"/>
          <p:nvPr/>
        </p:nvSpPr>
        <p:spPr>
          <a:xfrm>
            <a:off x="2485897" y="1605995"/>
            <a:ext cx="4172206" cy="79707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Optimize structure of CH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molecule using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OpenMolcas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1D3C2-7D29-3708-A986-EA35DC495087}"/>
              </a:ext>
            </a:extLst>
          </p:cNvPr>
          <p:cNvSpPr txBox="1"/>
          <p:nvPr/>
        </p:nvSpPr>
        <p:spPr>
          <a:xfrm>
            <a:off x="2485898" y="3092428"/>
            <a:ext cx="4172205" cy="4277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Generate hessian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C9791D-F121-4F0E-3327-C2B0730CB425}"/>
              </a:ext>
            </a:extLst>
          </p:cNvPr>
          <p:cNvSpPr txBox="1"/>
          <p:nvPr/>
        </p:nvSpPr>
        <p:spPr>
          <a:xfrm>
            <a:off x="2485898" y="4246462"/>
            <a:ext cx="4172204" cy="4277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Generate 40 initial conditions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508D34-ECEA-64C9-C832-B6483D02B057}"/>
              </a:ext>
            </a:extLst>
          </p:cNvPr>
          <p:cNvSpPr txBox="1"/>
          <p:nvPr/>
        </p:nvSpPr>
        <p:spPr>
          <a:xfrm>
            <a:off x="2218944" y="5400496"/>
            <a:ext cx="4706112" cy="4277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Run NAMD simulations with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PySpawn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447EAE-DB0D-A77E-DEBF-4FBDA4206CFB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4572000" y="2403073"/>
            <a:ext cx="1" cy="6893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E498A7-5ADE-6A1B-BBB9-ACBD188B18FD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4572000" y="3520174"/>
            <a:ext cx="1" cy="7262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954729-2BA4-99CF-C0B1-7D264E3A3ABD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4572000" y="4674208"/>
            <a:ext cx="0" cy="7262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402D0E4-A5C5-F977-EF24-3D44FD86993C}"/>
              </a:ext>
            </a:extLst>
          </p:cNvPr>
          <p:cNvSpPr txBox="1"/>
          <p:nvPr/>
        </p:nvSpPr>
        <p:spPr>
          <a:xfrm>
            <a:off x="6925056" y="1721262"/>
            <a:ext cx="2882712" cy="427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geometry.xyz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*.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RasOrb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8AEDF4-C893-5717-1BBA-6EFF372D2336}"/>
              </a:ext>
            </a:extLst>
          </p:cNvPr>
          <p:cNvSpPr txBox="1"/>
          <p:nvPr/>
        </p:nvSpPr>
        <p:spPr>
          <a:xfrm>
            <a:off x="6925056" y="3092428"/>
            <a:ext cx="1039067" cy="427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*.h5 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507E08-C127-79A9-0DC3-AD6CE675372D}"/>
              </a:ext>
            </a:extLst>
          </p:cNvPr>
          <p:cNvSpPr txBox="1"/>
          <p:nvPr/>
        </p:nvSpPr>
        <p:spPr>
          <a:xfrm>
            <a:off x="6925056" y="4246462"/>
            <a:ext cx="4408771" cy="427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geometry.xyz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INPORB, hessian.hdf5</a:t>
            </a:r>
          </a:p>
        </p:txBody>
      </p:sp>
    </p:spTree>
    <p:extLst>
      <p:ext uri="{BB962C8B-B14F-4D97-AF65-F5344CB8AC3E}">
        <p14:creationId xmlns:p14="http://schemas.microsoft.com/office/powerpoint/2010/main" val="3707261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1B4F-18FC-C905-0BFA-480156BA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69B283-32C9-7E02-0780-79FFBB5DD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94E66-576B-6DD9-2832-F5E9ADEB72F1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Simulation settings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EAE9A8-2AC6-AD17-600A-8D5E62C9A81B}"/>
                  </a:ext>
                </a:extLst>
              </p:cNvPr>
              <p:cNvSpPr txBox="1"/>
              <p:nvPr/>
            </p:nvSpPr>
            <p:spPr>
              <a:xfrm>
                <a:off x="888685" y="1403702"/>
                <a:ext cx="6718506" cy="4382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OpenMolcas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SA</m:t>
                    </m:r>
                    <m:r>
                      <m:rPr>
                        <m:nor/>
                      </m:rPr>
                      <a:rPr lang="en-US" i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(2)−</m:t>
                    </m:r>
                    <m:r>
                      <m:rPr>
                        <m:nor/>
                      </m:rPr>
                      <a:rPr lang="en-US" i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XMS</m:t>
                    </m:r>
                    <m:r>
                      <m:rPr>
                        <m:nor/>
                      </m:rPr>
                      <a:rPr lang="en-US" i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en-US" i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CASPT</m:t>
                    </m:r>
                    <m:r>
                      <m:rPr>
                        <m:nor/>
                      </m:rPr>
                      <a:rPr lang="en-US" i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2(8,8)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aug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-cc-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pVDZ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basis set</a:t>
                </a:r>
              </a:p>
              <a:p>
                <a:pPr marL="742950" lvl="1" indent="-2857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No triplet states included</a:t>
                </a:r>
              </a:p>
              <a:p>
                <a:pPr marL="742950" lvl="1" indent="-2857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PySpawn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Time step (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): 0.1 fs</a:t>
                </a:r>
              </a:p>
              <a:p>
                <a:pPr marL="742950" lvl="1" indent="-2857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Total time (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tfinal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): 50 fs</a:t>
                </a:r>
              </a:p>
              <a:p>
                <a:pPr marL="742950" lvl="1" indent="-2857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 state (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istate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): 1 (excited state)</a:t>
                </a:r>
              </a:p>
              <a:p>
                <a:pPr marL="742950" lvl="1" indent="-2857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Coupling threshold (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spawnthresh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): (0.5 *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np.pi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 /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/ 40.0</a:t>
                </a:r>
              </a:p>
              <a:p>
                <a:pPr marL="742950" lvl="1" indent="-2857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32 initial conditions generated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EAE9A8-2AC6-AD17-600A-8D5E62C9A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85" y="1403702"/>
                <a:ext cx="6718506" cy="4382995"/>
              </a:xfrm>
              <a:prstGeom prst="rect">
                <a:avLst/>
              </a:prstGeom>
              <a:blipFill>
                <a:blip r:embed="rId2"/>
                <a:stretch>
                  <a:fillRect l="-635" b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1479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B5DF4-36EC-C103-A849-94B46A372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7D57917D-0879-C0B4-AD27-A8F88FBE2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05" t="17247" r="29592" b="37719"/>
          <a:stretch>
            <a:fillRect/>
          </a:stretch>
        </p:blipFill>
        <p:spPr>
          <a:xfrm>
            <a:off x="583211" y="2132955"/>
            <a:ext cx="1396209" cy="123444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22626-83A0-6EFC-B9EC-A151516B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4B7487-56DF-DCCC-CD18-D0A1C8A29F7A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Observed reactions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023E7-680C-2A1C-D64B-6B2571610368}"/>
              </a:ext>
            </a:extLst>
          </p:cNvPr>
          <p:cNvSpPr txBox="1"/>
          <p:nvPr/>
        </p:nvSpPr>
        <p:spPr>
          <a:xfrm>
            <a:off x="826951" y="1273284"/>
            <a:ext cx="3501280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H (initial condition #25)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8976B5-6718-177D-9A46-DEF64ED5B8AD}"/>
              </a:ext>
            </a:extLst>
          </p:cNvPr>
          <p:cNvSpPr txBox="1"/>
          <p:nvPr/>
        </p:nvSpPr>
        <p:spPr>
          <a:xfrm>
            <a:off x="6513284" y="1268336"/>
            <a:ext cx="3437159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(initial condition #3)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A3559F-08BF-C396-4D1D-0ADA70540326}"/>
              </a:ext>
            </a:extLst>
          </p:cNvPr>
          <p:cNvSpPr txBox="1"/>
          <p:nvPr/>
        </p:nvSpPr>
        <p:spPr>
          <a:xfrm>
            <a:off x="826951" y="3817917"/>
            <a:ext cx="3501280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+ 2H (initial condition #8)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6B317D-0311-90AD-FB4D-CBF94308FA5E}"/>
              </a:ext>
            </a:extLst>
          </p:cNvPr>
          <p:cNvSpPr txBox="1"/>
          <p:nvPr/>
        </p:nvSpPr>
        <p:spPr>
          <a:xfrm>
            <a:off x="6513284" y="3823855"/>
            <a:ext cx="1750800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 + 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D9E21DF-B5A7-F0F7-2A78-B32580BA8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5" t="17355" r="26240" b="37826"/>
          <a:stretch>
            <a:fillRect/>
          </a:stretch>
        </p:blipFill>
        <p:spPr>
          <a:xfrm>
            <a:off x="3275861" y="2131004"/>
            <a:ext cx="2471075" cy="1238343"/>
          </a:xfrm>
          <a:prstGeom prst="rect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EE96E7B9-97B2-DC76-93B2-C5A8555AF47B}"/>
              </a:ext>
            </a:extLst>
          </p:cNvPr>
          <p:cNvSpPr/>
          <p:nvPr/>
        </p:nvSpPr>
        <p:spPr>
          <a:xfrm rot="5400000">
            <a:off x="2173292" y="2444533"/>
            <a:ext cx="908697" cy="61128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E7ED02B-3E60-24E4-630E-0673A68B6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2" t="37424" r="37260" b="31816"/>
          <a:stretch>
            <a:fillRect/>
          </a:stretch>
        </p:blipFill>
        <p:spPr>
          <a:xfrm rot="5400000">
            <a:off x="6615748" y="2213123"/>
            <a:ext cx="1481328" cy="112605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800EA7E-13FF-316C-5B88-04A041F9A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3" t="37425" r="37809" b="2421"/>
          <a:stretch>
            <a:fillRect/>
          </a:stretch>
        </p:blipFill>
        <p:spPr>
          <a:xfrm rot="5400000">
            <a:off x="9576293" y="1675072"/>
            <a:ext cx="1481328" cy="2202155"/>
          </a:xfrm>
          <a:prstGeom prst="rect">
            <a:avLst/>
          </a:prstGeom>
        </p:spPr>
      </p:pic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D6A011C1-EF2A-D904-E0A7-ACF965FDF8D5}"/>
              </a:ext>
            </a:extLst>
          </p:cNvPr>
          <p:cNvSpPr/>
          <p:nvPr/>
        </p:nvSpPr>
        <p:spPr>
          <a:xfrm rot="5400000">
            <a:off x="8143179" y="2470507"/>
            <a:ext cx="908697" cy="61128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7CC2946-8DD4-1094-1503-CF89E8727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9" t="36808" r="35533" b="31318"/>
          <a:stretch>
            <a:fillRect/>
          </a:stretch>
        </p:blipFill>
        <p:spPr>
          <a:xfrm>
            <a:off x="487814" y="4824655"/>
            <a:ext cx="1587002" cy="124071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6640557-E831-66FF-9AC2-F0EB6EE66E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89" t="36808" r="25359" b="10953"/>
          <a:stretch>
            <a:fillRect/>
          </a:stretch>
        </p:blipFill>
        <p:spPr>
          <a:xfrm>
            <a:off x="3275861" y="4428298"/>
            <a:ext cx="2390172" cy="2033431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CFDB7C45-211D-F2C2-F1C0-031B82D4B431}"/>
              </a:ext>
            </a:extLst>
          </p:cNvPr>
          <p:cNvSpPr/>
          <p:nvPr/>
        </p:nvSpPr>
        <p:spPr>
          <a:xfrm rot="5400000">
            <a:off x="2173292" y="5139371"/>
            <a:ext cx="908697" cy="61128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1BD588-7D54-CB82-AAAC-60D05B4E18F0}"/>
              </a:ext>
            </a:extLst>
          </p:cNvPr>
          <p:cNvSpPr txBox="1"/>
          <p:nvPr/>
        </p:nvSpPr>
        <p:spPr>
          <a:xfrm>
            <a:off x="6513284" y="4774456"/>
            <a:ext cx="4624649" cy="1059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observed</a:t>
            </a: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Simulation time and number of initial conditions are not sufficient</a:t>
            </a:r>
          </a:p>
        </p:txBody>
      </p:sp>
    </p:spTree>
    <p:extLst>
      <p:ext uri="{BB962C8B-B14F-4D97-AF65-F5344CB8AC3E}">
        <p14:creationId xmlns:p14="http://schemas.microsoft.com/office/powerpoint/2010/main" val="3389777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B71CD-5EE8-BE76-CBAF-9D820289F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57670-2129-2952-1AB9-404F2CF7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372BE-661E-3692-BD28-A7176C7B49EE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Change in C-H bond lengths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C680A-DB11-A45B-B590-6CFF0CC3DD0C}"/>
              </a:ext>
            </a:extLst>
          </p:cNvPr>
          <p:cNvSpPr txBox="1"/>
          <p:nvPr/>
        </p:nvSpPr>
        <p:spPr>
          <a:xfrm>
            <a:off x="249193" y="1881019"/>
            <a:ext cx="3501280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H (initial condition #25)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9CD135-0082-3396-0B81-E978C28D5BF7}"/>
              </a:ext>
            </a:extLst>
          </p:cNvPr>
          <p:cNvSpPr txBox="1"/>
          <p:nvPr/>
        </p:nvSpPr>
        <p:spPr>
          <a:xfrm>
            <a:off x="4235160" y="1881019"/>
            <a:ext cx="3437159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(initial condition #3)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EBA19F-552F-F6D8-DE95-C7696DBBFB37}"/>
              </a:ext>
            </a:extLst>
          </p:cNvPr>
          <p:cNvSpPr txBox="1"/>
          <p:nvPr/>
        </p:nvSpPr>
        <p:spPr>
          <a:xfrm>
            <a:off x="8221128" y="1881019"/>
            <a:ext cx="3501280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+ 2H (initial condition #8)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4F3F1-80F6-0614-51B2-3D08EA561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93" y="2458193"/>
            <a:ext cx="3833315" cy="28749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57B4AD-81B9-CF46-7609-F7466B1A6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160" y="2458194"/>
            <a:ext cx="3833315" cy="28749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2BF72C-8076-0DCA-0DDC-2FD92255A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128" y="2458193"/>
            <a:ext cx="3833316" cy="287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23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4BD4F-2656-2769-D1FF-78972E61F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C55F32-4E34-2DA0-AAE5-07239C295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F1D089-E451-B258-6CA9-CCF698DDCF51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Simulation results of initial condition #32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81E707-05E9-DBBF-AC19-5B8244FEF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76" y="1694903"/>
            <a:ext cx="4624259" cy="34681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71E34E-9EEB-AA06-8EBF-F8E83B414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250" y="1694903"/>
            <a:ext cx="4624259" cy="346819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3DCCE8-3E58-8B16-D245-F26FDD00066A}"/>
              </a:ext>
            </a:extLst>
          </p:cNvPr>
          <p:cNvSpPr txBox="1"/>
          <p:nvPr/>
        </p:nvSpPr>
        <p:spPr>
          <a:xfrm>
            <a:off x="594176" y="1287784"/>
            <a:ext cx="2614818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Electronic population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167AF4-FBB6-A34B-0F4E-6174A7963156}"/>
              </a:ext>
            </a:extLst>
          </p:cNvPr>
          <p:cNvSpPr txBox="1"/>
          <p:nvPr/>
        </p:nvSpPr>
        <p:spPr>
          <a:xfrm>
            <a:off x="6281250" y="1287784"/>
            <a:ext cx="2396810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Nuclear population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2B837C-EE8A-1A28-1ABF-031253020F37}"/>
              </a:ext>
            </a:extLst>
          </p:cNvPr>
          <p:cNvSpPr txBox="1"/>
          <p:nvPr/>
        </p:nvSpPr>
        <p:spPr>
          <a:xfrm>
            <a:off x="6281250" y="5176006"/>
            <a:ext cx="2560316" cy="1391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00: 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+ 2H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00b0: 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+ 2H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00b0b0: 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00b0b0b0: 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3FE569-27A5-4F9C-962E-8F0C2A586F0C}"/>
              </a:ext>
            </a:extLst>
          </p:cNvPr>
          <p:cNvSpPr txBox="1"/>
          <p:nvPr/>
        </p:nvSpPr>
        <p:spPr>
          <a:xfrm>
            <a:off x="8841566" y="5163097"/>
            <a:ext cx="2347117" cy="1059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00b1: 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+ 2H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00b1b0: 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+ 2H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00b2: 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+ 2H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633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CFAF6-8C40-9DEC-63C6-217EE6402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FE7FFD-3F5E-C6B5-E245-44D84AEF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F71C59-CF01-CC14-F959-C3F1FDC950F6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Electronic population evolution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E32A6A-57D4-1BBD-DBE6-C63ECAFEC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2195741"/>
            <a:ext cx="5852172" cy="43891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BD8C97B-A339-78DA-58D4-2E3D79AD2436}"/>
              </a:ext>
            </a:extLst>
          </p:cNvPr>
          <p:cNvSpPr txBox="1"/>
          <p:nvPr/>
        </p:nvSpPr>
        <p:spPr>
          <a:xfrm>
            <a:off x="340045" y="1068778"/>
            <a:ext cx="8762406" cy="726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electronic population is averaged over all 32 simulations, showing the overall population transfer between electronic states as a function of time.</a:t>
            </a:r>
          </a:p>
        </p:txBody>
      </p:sp>
    </p:spTree>
    <p:extLst>
      <p:ext uri="{BB962C8B-B14F-4D97-AF65-F5344CB8AC3E}">
        <p14:creationId xmlns:p14="http://schemas.microsoft.com/office/powerpoint/2010/main" val="3829037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E1107-9F7A-8FD1-A24E-017331BAE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BDA7CB-A1EC-AC9B-9ADE-DFDD5EF1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63555D-8BD8-5E9C-EC9D-913A734DF175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Branching ratio of different pathways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C05028-8132-5ED7-28F4-547544E21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85" y="2043251"/>
            <a:ext cx="6080169" cy="4560127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135363F-FB27-1BC8-3B79-FDD192FE4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27233"/>
              </p:ext>
            </p:extLst>
          </p:nvPr>
        </p:nvGraphicFramePr>
        <p:xfrm>
          <a:off x="7115325" y="2624318"/>
          <a:ext cx="4054206" cy="2221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754">
                  <a:extLst>
                    <a:ext uri="{9D8B030D-6E8A-4147-A177-3AD203B41FA5}">
                      <a16:colId xmlns:a16="http://schemas.microsoft.com/office/drawing/2014/main" val="1436981075"/>
                    </a:ext>
                  </a:extLst>
                </a:gridCol>
                <a:gridCol w="1282726">
                  <a:extLst>
                    <a:ext uri="{9D8B030D-6E8A-4147-A177-3AD203B41FA5}">
                      <a16:colId xmlns:a16="http://schemas.microsoft.com/office/drawing/2014/main" val="2674806802"/>
                    </a:ext>
                  </a:extLst>
                </a:gridCol>
                <a:gridCol w="1282726">
                  <a:extLst>
                    <a:ext uri="{9D8B030D-6E8A-4147-A177-3AD203B41FA5}">
                      <a16:colId xmlns:a16="http://schemas.microsoft.com/office/drawing/2014/main" val="1046156947"/>
                    </a:ext>
                  </a:extLst>
                </a:gridCol>
              </a:tblGrid>
              <a:tr h="444302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Ref. 1</a:t>
                      </a:r>
                      <a:endParaRPr lang="en-US" baseline="30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944661"/>
                  </a:ext>
                </a:extLst>
              </a:tr>
              <a:tr h="444302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</a:t>
                      </a:r>
                      <a:r>
                        <a:rPr lang="en-US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423119"/>
                  </a:ext>
                </a:extLst>
              </a:tr>
              <a:tr h="4443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</a:t>
                      </a:r>
                      <a:r>
                        <a:rPr lang="en-US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H</a:t>
                      </a:r>
                      <a:r>
                        <a:rPr lang="en-US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09837"/>
                  </a:ext>
                </a:extLst>
              </a:tr>
              <a:tr h="4443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</a:t>
                      </a:r>
                      <a:r>
                        <a:rPr lang="en-US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+ 2H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82106"/>
                  </a:ext>
                </a:extLst>
              </a:tr>
              <a:tr h="4443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 + H</a:t>
                      </a:r>
                      <a:r>
                        <a:rPr lang="en-US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0591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6BB76B1-60A8-3F77-94F2-0A6C6F496DD5}"/>
              </a:ext>
            </a:extLst>
          </p:cNvPr>
          <p:cNvSpPr txBox="1"/>
          <p:nvPr/>
        </p:nvSpPr>
        <p:spPr>
          <a:xfrm flipH="1">
            <a:off x="7117110" y="5321027"/>
            <a:ext cx="4263241" cy="360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[1] J. Phys. Chem.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5273−5284 (2024)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13FF10-C110-204D-5057-B19431F8E223}"/>
              </a:ext>
            </a:extLst>
          </p:cNvPr>
          <p:cNvSpPr txBox="1"/>
          <p:nvPr/>
        </p:nvSpPr>
        <p:spPr>
          <a:xfrm>
            <a:off x="340045" y="1047242"/>
            <a:ext cx="7509545" cy="726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ratio of species was calculated by considering the nuclear population of each trajectory across the 32 simulations.</a:t>
            </a:r>
          </a:p>
        </p:txBody>
      </p:sp>
    </p:spTree>
    <p:extLst>
      <p:ext uri="{BB962C8B-B14F-4D97-AF65-F5344CB8AC3E}">
        <p14:creationId xmlns:p14="http://schemas.microsoft.com/office/powerpoint/2010/main" val="1250357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1ED84-5592-ECC9-275B-378CE4BF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A894E8-AADB-53CE-4759-4ECA3919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C0D213-13DC-FDCB-56B9-4243A74BACD9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Electronic states of products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ECF77-49F1-3477-59E8-502A9BD45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993" y="1344876"/>
            <a:ext cx="7810014" cy="39050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8F07E3-6E36-B82C-9A57-55BAC9C0219E}"/>
              </a:ext>
            </a:extLst>
          </p:cNvPr>
          <p:cNvSpPr txBox="1"/>
          <p:nvPr/>
        </p:nvSpPr>
        <p:spPr>
          <a:xfrm>
            <a:off x="1398240" y="5297383"/>
            <a:ext cx="9395521" cy="1059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Majority of 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H was produced on ground state (internal conversion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dissociation).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was produced on both ground and excited state at similar ratio.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are consistent previous study (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J. Chem. Phys. 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131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, 224320 (2009)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88017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12516-829B-87A6-8233-2A7085F5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FD3498-2430-6205-E46D-884FBCB40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DCCB70-A001-A8B5-A1F0-AEB050A239CB}"/>
              </a:ext>
            </a:extLst>
          </p:cNvPr>
          <p:cNvSpPr txBox="1"/>
          <p:nvPr/>
        </p:nvSpPr>
        <p:spPr>
          <a:xfrm>
            <a:off x="340045" y="254622"/>
            <a:ext cx="975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Number of observed products in each simulation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C1920F-666E-E0D5-1123-B587B266A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278" y="1119246"/>
            <a:ext cx="8245443" cy="41227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1AD4604-25D5-6A3A-0AF4-8A705D2F6AE2}"/>
              </a:ext>
            </a:extLst>
          </p:cNvPr>
          <p:cNvSpPr txBox="1"/>
          <p:nvPr/>
        </p:nvSpPr>
        <p:spPr>
          <a:xfrm>
            <a:off x="1665812" y="5351699"/>
            <a:ext cx="8860377" cy="1059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 single simulation, up to three different dissociation pathways were observed.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the point of view of sampling geometries for training machine learning potential for NAMD, AIMS method can be efficient way compared to TSH methods.</a:t>
            </a:r>
          </a:p>
        </p:txBody>
      </p:sp>
    </p:spTree>
    <p:extLst>
      <p:ext uri="{BB962C8B-B14F-4D97-AF65-F5344CB8AC3E}">
        <p14:creationId xmlns:p14="http://schemas.microsoft.com/office/powerpoint/2010/main" val="2394528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E80E-C8C4-7EB8-A8EA-64CF0393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23BCBA-2B0F-9DC7-0058-5FA24652F500}"/>
              </a:ext>
            </a:extLst>
          </p:cNvPr>
          <p:cNvSpPr txBox="1"/>
          <p:nvPr/>
        </p:nvSpPr>
        <p:spPr>
          <a:xfrm>
            <a:off x="340045" y="254622"/>
            <a:ext cx="9899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321FA-4582-B7C1-AA02-EF1AE120728E}"/>
              </a:ext>
            </a:extLst>
          </p:cNvPr>
          <p:cNvSpPr txBox="1"/>
          <p:nvPr/>
        </p:nvSpPr>
        <p:spPr>
          <a:xfrm>
            <a:off x="340045" y="1119763"/>
            <a:ext cx="11013756" cy="3013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AIMS method, using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PySpawn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OpenMolcas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was applied to NAMD simulations of the CH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photodissociation reaction.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 32 simulations showed branching ratios and electronic states of products similar to those from previous experimental and computational (TSH method) studies.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Within a single simulation, multiple trajectories following different reaction pathways were observed.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Hence, AIMS can be used as an efficient method for collecting training geometries for machine learning models.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A0432D-B5EA-2359-F64D-1F3E15557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194" y="4330620"/>
            <a:ext cx="3252444" cy="2439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7CAABD-BC66-D38D-8C92-610D1889A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746" y="4330620"/>
            <a:ext cx="4878665" cy="243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099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85750" indent="-285750" algn="l">
          <a:lnSpc>
            <a:spcPct val="120000"/>
          </a:lnSpc>
          <a:buFont typeface="Arial" panose="020B0604020202020204" pitchFamily="34" charset="0"/>
          <a:buChar char="•"/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110801</TotalTime>
  <Words>773</Words>
  <Application>Microsoft Office PowerPoint</Application>
  <PresentationFormat>Widescreen</PresentationFormat>
  <Paragraphs>130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Avenir Book</vt:lpstr>
      <vt:lpstr>Aptos</vt:lpstr>
      <vt:lpstr>Aptos Display</vt:lpstr>
      <vt:lpstr>Arial</vt:lpstr>
      <vt:lpstr>Wingdings</vt:lpstr>
      <vt:lpstr>Office Theme</vt:lpstr>
      <vt:lpstr>1_Office Theme</vt:lpstr>
      <vt:lpstr>Photodissociation Dynamics of CH4 Using PySpawn/OpenMolcas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Imon Mia</dc:creator>
  <cp:lastModifiedBy>Hong, Deokgi</cp:lastModifiedBy>
  <cp:revision>312</cp:revision>
  <dcterms:created xsi:type="dcterms:W3CDTF">2025-06-02T17:34:56Z</dcterms:created>
  <dcterms:modified xsi:type="dcterms:W3CDTF">2026-07-18T19:16:35Z</dcterms:modified>
</cp:coreProperties>
</file>